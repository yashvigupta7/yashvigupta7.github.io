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5C6E"/>
    <a:srgbClr val="03C9C8"/>
    <a:srgbClr val="B000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65F17C-1BD5-EEEF-85CA-D0D4828124BB}" v="661" dt="2026-04-10T22:23:44.535"/>
    <p1510:client id="{8CBA5220-38E8-3B4C-9D78-1ADB33703F2A}" v="2403" dt="2026-04-11T15:34:48.183"/>
    <p1510:client id="{CAE03FD9-A4EA-C3B5-4D66-7200C32CF7B1}" v="1" dt="2026-04-10T22:59:19.076"/>
    <p1510:client id="{D0BDF34E-EC54-2B4B-D01E-166EEB9A7D80}" v="112" dt="2026-04-10T21:41:59.150"/>
    <p1510:client id="{DE040074-920E-6545-8788-04970E69DCFF}" v="280" dt="2026-04-11T12:59:07.572"/>
    <p1510:client id="{EB9872B0-0C03-45EF-D51B-24874D359594}" v="1" dt="2026-04-11T12:29:56.442"/>
    <p1510:client id="{F8CAD0AB-1F95-1736-DB93-2C0D43034362}" v="245" dt="2026-04-11T13:36:28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10"/>
    <p:restoredTop sz="94662"/>
  </p:normalViewPr>
  <p:slideViewPr>
    <p:cSldViewPr snapToGrid="0">
      <p:cViewPr varScale="1">
        <p:scale>
          <a:sx n="133" d="100"/>
          <a:sy n="133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94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ndviewresearch.com/industry-analysis/surgical-site-infection-control-market-report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marketsandmarkets.com/Market-Reports/remote-patient-monitoring-market-77155492.html" TargetMode="Externa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B9D57-46C2-410A-7A80-31C0B238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4ED2C-912F-BAF8-14CA-9CB1568B7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0E37A-8739-711B-8BCA-CC250DFD4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9187A-8A3C-7E9E-46D7-B20AE2DB7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22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049EC-8855-1D12-85AA-7852E25B6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6A02D-286B-8C28-E7F6-E09A5EEF1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D945A-3331-25BA-B102-613D0A676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DC771-D729-B478-D484-E24C51664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53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https://www.grandviewresearch.com/industry-analysis/surgical-site-infection-control-market-report</a:t>
            </a:r>
            <a:endParaRPr lang="en-US"/>
          </a:p>
          <a:p>
            <a:r>
              <a:rPr lang="en-US">
                <a:hlinkClick r:id="rId4"/>
              </a:rPr>
              <a:t>https://www.marketsandmarkets.com/Market-Reports/remote-patient-monitoring-market-77155492.html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9DA55-8CB1-C310-32E2-7870DEA41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2C93A-AFDA-58D9-2A79-B426CF21F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D2C3A-5F41-11B5-9822-64252AAC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8D928-3AF9-0BDC-4CE0-714B7834F0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51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-assn.org/public-health/population-health/what-doctors-wish-patients-knew-about-getting-cesarean-section#:~:text=%E2%80%9CNearly%201.2%20million%20women%20have,C%2Dsection%20may%20be%20needed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ajog.org/article/S0002-9378(22)02295-5/fulltext" TargetMode="External"/><Relationship Id="rId4" Type="http://schemas.openxmlformats.org/officeDocument/2006/relationships/hyperlink" Target="https://doi.org/10.2147/IJWH.S9887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91840" y="0"/>
            <a:ext cx="182880" cy="514350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749040" y="502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00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JHU Healthcare Design Competition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3749040" y="9601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SurgeSentinel: A Risk-Stratified Remote Monitoring System for Post-Cesarean Wound Care</a:t>
            </a:r>
            <a:endParaRPr lang="en-US" sz="2000"/>
          </a:p>
        </p:txBody>
      </p:sp>
      <p:sp>
        <p:nvSpPr>
          <p:cNvPr id="9" name="Shape 6"/>
          <p:cNvSpPr/>
          <p:nvPr/>
        </p:nvSpPr>
        <p:spPr>
          <a:xfrm>
            <a:off x="3749040" y="2240280"/>
            <a:ext cx="5029200" cy="0"/>
          </a:xfrm>
          <a:prstGeom prst="line">
            <a:avLst/>
          </a:prstGeom>
          <a:noFill/>
          <a:ln w="1905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749040" y="23533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Cornell University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3749040" y="26276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04/11/26</a:t>
            </a:r>
            <a:endParaRPr lang="en-US" sz="10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DF1ED5-6209-E079-925A-F1FF002BFB55}"/>
              </a:ext>
            </a:extLst>
          </p:cNvPr>
          <p:cNvGrpSpPr/>
          <p:nvPr/>
        </p:nvGrpSpPr>
        <p:grpSpPr>
          <a:xfrm>
            <a:off x="3749040" y="3931920"/>
            <a:ext cx="5029200" cy="594360"/>
            <a:chOff x="3749040" y="3931920"/>
            <a:chExt cx="5029200" cy="594360"/>
          </a:xfrm>
        </p:grpSpPr>
        <p:sp>
          <p:nvSpPr>
            <p:cNvPr id="13" name="Shape 10"/>
            <p:cNvSpPr/>
            <p:nvPr/>
          </p:nvSpPr>
          <p:spPr>
            <a:xfrm>
              <a:off x="3749040" y="3931920"/>
              <a:ext cx="5029200" cy="594360"/>
            </a:xfrm>
            <a:prstGeom prst="rect">
              <a:avLst/>
            </a:prstGeom>
            <a:solidFill>
              <a:srgbClr val="12324F"/>
            </a:solidFill>
            <a:ln w="12700">
              <a:solidFill>
                <a:srgbClr val="12324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3749040" y="3931920"/>
              <a:ext cx="64008" cy="594360"/>
            </a:xfrm>
            <a:prstGeom prst="rect">
              <a:avLst/>
            </a:prstGeom>
            <a:solidFill>
              <a:srgbClr val="00C9C8"/>
            </a:solidFill>
            <a:ln w="12700">
              <a:solidFill>
                <a:srgbClr val="00C9C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3931920" y="3977640"/>
              <a:ext cx="4663440" cy="18288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l">
                <a:buNone/>
              </a:pPr>
              <a:r>
                <a:rPr lang="en-US" sz="700" b="1" kern="0" spc="200">
                  <a:solidFill>
                    <a:srgbClr val="00C9C8"/>
                  </a:solidFill>
                  <a:latin typeface="Calibri"/>
                  <a:ea typeface="Calibri"/>
                  <a:cs typeface="Calibri"/>
                </a:rPr>
                <a:t>AUTHORS</a:t>
              </a:r>
              <a:endParaRPr lang="en-US" sz="700"/>
            </a:p>
          </p:txBody>
        </p:sp>
        <p:sp>
          <p:nvSpPr>
            <p:cNvPr id="16" name="Text 13"/>
            <p:cNvSpPr/>
            <p:nvPr/>
          </p:nvSpPr>
          <p:spPr>
            <a:xfrm>
              <a:off x="3931920" y="4133088"/>
              <a:ext cx="4663440" cy="320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100" i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Srinjoy Chatterjee · Yashvi Gupta · Anjali Katta · Sarah </a:t>
              </a:r>
              <a:r>
                <a:rPr lang="en-US" sz="1100" i="1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Satani</a:t>
              </a:r>
              <a:endParaRPr lang="en-US" sz="1100" i="1" err="1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4B5B9AE-BDC2-D9FA-C52C-24878CE320EF}"/>
              </a:ext>
            </a:extLst>
          </p:cNvPr>
          <p:cNvSpPr txBox="1"/>
          <p:nvPr/>
        </p:nvSpPr>
        <p:spPr>
          <a:xfrm>
            <a:off x="4669971" y="620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1" name="Picture 20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68C2FE14-E19D-81EE-9275-3DE3A4CB81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81" t="29574" r="18482" b="23081"/>
          <a:stretch>
            <a:fillRect/>
          </a:stretch>
        </p:blipFill>
        <p:spPr>
          <a:xfrm>
            <a:off x="-27542" y="1412303"/>
            <a:ext cx="3319462" cy="24351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0">
            <a:extLst>
              <a:ext uri="{FF2B5EF4-FFF2-40B4-BE49-F238E27FC236}">
                <a16:creationId xmlns:a16="http://schemas.microsoft.com/office/drawing/2014/main" id="{E95698B4-BF15-16DF-B374-E8778579BC2F}"/>
              </a:ext>
            </a:extLst>
          </p:cNvPr>
          <p:cNvSpPr/>
          <p:nvPr/>
        </p:nvSpPr>
        <p:spPr>
          <a:xfrm>
            <a:off x="459927" y="3746914"/>
            <a:ext cx="2743200" cy="105368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>
                <a:solidFill>
                  <a:srgbClr val="FFFFFF"/>
                </a:solidFill>
                <a:latin typeface="Trebuchet MS"/>
              </a:rPr>
              <a:t>Our Value Proposition</a:t>
            </a: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457200" y="795528"/>
            <a:ext cx="8229600" cy="23774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795528"/>
            <a:ext cx="109728" cy="237744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" y="1170432"/>
            <a:ext cx="7680960" cy="15980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3-15% of 1.2M annual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U.S. C-section patients develop complications, yet a critical post-discharge "black box" leaves high-risk mothers without monitoring when infections most often emerge.</a:t>
            </a:r>
          </a:p>
          <a:p>
            <a:pPr>
              <a:lnSpc>
                <a:spcPct val="140000"/>
              </a:lnSpc>
            </a:pPr>
            <a:endParaRPr lang="en-US" sz="140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400" b="1">
                <a:solidFill>
                  <a:srgbClr val="03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SurgeSentinel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Al-driven wound image analysis to generate personalized risk scores, enabling early triage and reducing readmissions and travel burden.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2743200" cy="32004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5082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457200" y="4019271"/>
            <a:ext cx="2743200" cy="602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High-risk </a:t>
            </a:r>
            <a:r>
              <a:rPr lang="en-US" sz="1100" b="1">
                <a:solidFill>
                  <a:srgbClr val="2D5C6E"/>
                </a:solidFill>
              </a:rPr>
              <a:t>post-cesarean patients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self-monitor complex surgical wounds for weeks with </a:t>
            </a:r>
            <a:r>
              <a:rPr lang="en-US" sz="1100" b="1">
                <a:solidFill>
                  <a:srgbClr val="2D5C6E"/>
                </a:solidFill>
              </a:rPr>
              <a:t>no clinical oversight.</a:t>
            </a:r>
          </a:p>
        </p:txBody>
      </p:sp>
      <p:sp>
        <p:nvSpPr>
          <p:cNvPr id="20" name="Shape 18"/>
          <p:cNvSpPr/>
          <p:nvPr/>
        </p:nvSpPr>
        <p:spPr>
          <a:xfrm>
            <a:off x="6254496" y="352044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54496" y="3520440"/>
            <a:ext cx="2743200" cy="32004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BENEFIT</a:t>
            </a:r>
            <a:endParaRPr lang="en-US" sz="90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0586526B-795C-7389-A73B-29C8DB440C5F}"/>
              </a:ext>
            </a:extLst>
          </p:cNvPr>
          <p:cNvSpPr/>
          <p:nvPr/>
        </p:nvSpPr>
        <p:spPr>
          <a:xfrm>
            <a:off x="3328416" y="384048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EFB6A995-5B17-A2CB-C832-B60D7957CCAE}"/>
              </a:ext>
            </a:extLst>
          </p:cNvPr>
          <p:cNvSpPr/>
          <p:nvPr/>
        </p:nvSpPr>
        <p:spPr>
          <a:xfrm>
            <a:off x="3328416" y="3526576"/>
            <a:ext cx="2743200" cy="32004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91656" y="3985214"/>
            <a:ext cx="2468880" cy="61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100" b="1">
                <a:solidFill>
                  <a:srgbClr val="2D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fewer readmissions, and zero travel - for patients,</a:t>
            </a:r>
          </a:p>
          <a:p>
            <a:pPr algn="ctr"/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surgeons, and health systems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28416" y="3530789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3465576" y="3955021"/>
            <a:ext cx="2468880" cy="731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SurgeSentinel uses </a:t>
            </a:r>
            <a:r>
              <a:rPr lang="en-US" sz="1100" b="1">
                <a:solidFill>
                  <a:srgbClr val="2D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image analysis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100" b="1">
                <a:solidFill>
                  <a:srgbClr val="2D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risk scoring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100" b="1">
                <a:solidFill>
                  <a:srgbClr val="2D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</a:p>
          <a:p>
            <a:pPr algn="ctr"/>
            <a:r>
              <a:rPr lang="en-US" sz="1100" b="1">
                <a:solidFill>
                  <a:srgbClr val="2D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infections early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route alerts directly to surgeons.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3758C72-C2C5-F107-398B-8DCDCC791667}"/>
              </a:ext>
            </a:extLst>
          </p:cNvPr>
          <p:cNvSpPr/>
          <p:nvPr/>
        </p:nvSpPr>
        <p:spPr>
          <a:xfrm>
            <a:off x="566928" y="930907"/>
            <a:ext cx="644251" cy="4546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000">
                <a:solidFill>
                  <a:srgbClr val="00C9C8"/>
                </a:solidFill>
                <a:latin typeface="Georgia"/>
                <a:ea typeface="+mn-lt"/>
                <a:cs typeface="+mn-lt"/>
              </a:rPr>
              <a:t>“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ECE7C3F-B5C8-8BFC-EAF4-DBE4E607E39B}"/>
              </a:ext>
            </a:extLst>
          </p:cNvPr>
          <p:cNvSpPr/>
          <p:nvPr/>
        </p:nvSpPr>
        <p:spPr>
          <a:xfrm rot="10800000">
            <a:off x="8218691" y="2598286"/>
            <a:ext cx="457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000">
                <a:solidFill>
                  <a:srgbClr val="00C9C8"/>
                </a:solidFill>
                <a:latin typeface="Georgia"/>
                <a:ea typeface="+mn-lt"/>
                <a:cs typeface="+mn-lt"/>
              </a:rPr>
              <a:t>“</a:t>
            </a:r>
            <a:endParaRPr lang="en-US" sz="4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Need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365760" y="858204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0287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NEED?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502920" y="1336487"/>
            <a:ext cx="3849624" cy="1463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Cesarean delivery is the </a:t>
            </a:r>
            <a:r>
              <a:rPr lang="en-US" sz="950" b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frequently performed</a:t>
            </a: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major surgery worldwide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3-15% of patients experience surgical site complications (infection, dehiscence, seromas, hematomas)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(obesity, pregestational diabetes, advanced maternal age) impair healing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care does not differentiate between standard and high-risk recovery trajectories</a:t>
            </a:r>
            <a:endParaRPr lang="en-US" sz="9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2987953"/>
            <a:ext cx="3840480" cy="0"/>
          </a:xfrm>
          <a:prstGeom prst="line">
            <a:avLst/>
          </a:prstGeom>
          <a:noFill/>
          <a:ln w="9525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1652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NEED IMPORTANT?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02920" y="3265828"/>
            <a:ext cx="3840480" cy="1332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 C-sections annually in the U.S.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duration &gt; 1 hour more than doubles infection risk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Gestational diabetes increases emergency C-section rates (1.52x)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patients face delayed care → local infections become systemic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</a:t>
            </a: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 readmissions, lost wages, and economic strain</a:t>
            </a:r>
          </a:p>
        </p:txBody>
      </p:sp>
      <p:sp>
        <p:nvSpPr>
          <p:cNvPr id="14" name="Shape 12"/>
          <p:cNvSpPr/>
          <p:nvPr/>
        </p:nvSpPr>
        <p:spPr>
          <a:xfrm>
            <a:off x="4800600" y="804672"/>
            <a:ext cx="3977640" cy="8686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804672"/>
            <a:ext cx="73152" cy="86868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877824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C9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3–15%</a:t>
            </a:r>
            <a:endParaRPr lang="en-US" sz="3000"/>
          </a:p>
        </p:txBody>
      </p:sp>
      <p:sp>
        <p:nvSpPr>
          <p:cNvPr id="17" name="Text 15"/>
          <p:cNvSpPr/>
          <p:nvPr/>
        </p:nvSpPr>
        <p:spPr>
          <a:xfrm>
            <a:off x="6492240" y="89611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rate</a:t>
            </a:r>
            <a:endParaRPr lang="en-US" sz="900"/>
          </a:p>
          <a:p>
            <a:pPr>
              <a:lnSpc>
                <a:spcPct val="120000"/>
              </a:lnSpc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(Wang et al., 2025)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4800600" y="1810512"/>
            <a:ext cx="3977640" cy="8686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1810512"/>
            <a:ext cx="73152" cy="86868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1883664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C9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$3.3B</a:t>
            </a:r>
            <a:endParaRPr lang="en-US" sz="3000"/>
          </a:p>
        </p:txBody>
      </p:sp>
      <p:sp>
        <p:nvSpPr>
          <p:cNvPr id="21" name="Text 19"/>
          <p:cNvSpPr/>
          <p:nvPr/>
        </p:nvSpPr>
        <p:spPr>
          <a:xfrm>
            <a:off x="6492240" y="190195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SSI cost burden</a:t>
            </a:r>
            <a:endParaRPr lang="en-US" sz="900"/>
          </a:p>
          <a:p>
            <a:pPr>
              <a:lnSpc>
                <a:spcPct val="120000"/>
              </a:lnSpc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(CDC/AHRQ)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4800600" y="2816352"/>
            <a:ext cx="3977640" cy="8686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2816352"/>
            <a:ext cx="73152" cy="86868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889504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C9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1.2M+</a:t>
            </a:r>
            <a:endParaRPr lang="en-US" sz="3000"/>
          </a:p>
        </p:txBody>
      </p:sp>
      <p:sp>
        <p:nvSpPr>
          <p:cNvPr id="25" name="Text 23"/>
          <p:cNvSpPr/>
          <p:nvPr/>
        </p:nvSpPr>
        <p:spPr>
          <a:xfrm>
            <a:off x="6492240" y="29077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C-sections performed annually in the U.S.</a:t>
            </a:r>
          </a:p>
          <a:p>
            <a:pPr>
              <a:lnSpc>
                <a:spcPct val="120000"/>
              </a:lnSpc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(CDC NCHS, 2023)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800600" y="3794760"/>
            <a:ext cx="3977640" cy="1078992"/>
          </a:xfrm>
          <a:prstGeom prst="rect">
            <a:avLst/>
          </a:prstGeom>
          <a:solidFill>
            <a:srgbClr val="12324F"/>
          </a:solidFill>
          <a:ln w="12700">
            <a:solidFill>
              <a:srgbClr val="00C9C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9889" y="3876950"/>
            <a:ext cx="457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>
                <a:solidFill>
                  <a:srgbClr val="00C9C8"/>
                </a:solidFill>
                <a:latin typeface="Georgia"/>
                <a:ea typeface="+mn-lt"/>
                <a:cs typeface="+mn-lt"/>
              </a:rPr>
              <a:t>“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74920" y="3931920"/>
            <a:ext cx="35204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850" i="1">
                <a:solidFill>
                  <a:srgbClr val="FFFFFF"/>
                </a:solidFill>
                <a:ea typeface="+mn-lt"/>
                <a:cs typeface="+mn-lt"/>
              </a:rPr>
              <a:t>High patient volumes necessitate constant, effective, and efficient post-surgical wound monitoring.</a:t>
            </a:r>
            <a:endParaRPr lang="en-US" sz="850" i="1"/>
          </a:p>
        </p:txBody>
      </p:sp>
      <p:sp>
        <p:nvSpPr>
          <p:cNvPr id="29" name="Text 27"/>
          <p:cNvSpPr/>
          <p:nvPr/>
        </p:nvSpPr>
        <p:spPr>
          <a:xfrm>
            <a:off x="5074920" y="4553712"/>
            <a:ext cx="352044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85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en-US" sz="850" b="1">
                <a:solidFill>
                  <a:schemeClr val="bg1"/>
                </a:solidFill>
                <a:ea typeface="+mn-lt"/>
                <a:cs typeface="+mn-lt"/>
              </a:rPr>
              <a:t>Dr. Daulat </a:t>
            </a:r>
            <a:r>
              <a:rPr lang="en-US" sz="850" b="1" err="1">
                <a:solidFill>
                  <a:schemeClr val="bg1"/>
                </a:solidFill>
                <a:ea typeface="+mn-lt"/>
                <a:cs typeface="+mn-lt"/>
              </a:rPr>
              <a:t>Reshamwalla</a:t>
            </a:r>
            <a:r>
              <a:rPr lang="en-US" sz="850" b="1">
                <a:solidFill>
                  <a:schemeClr val="bg1"/>
                </a:solidFill>
                <a:ea typeface="+mn-lt"/>
                <a:cs typeface="+mn-lt"/>
              </a:rPr>
              <a:t>, OBGYN </a:t>
            </a:r>
            <a:r>
              <a:rPr lang="en-US" sz="850">
                <a:solidFill>
                  <a:schemeClr val="bg1"/>
                </a:solidFill>
                <a:ea typeface="+mn-lt"/>
                <a:cs typeface="+mn-lt"/>
              </a:rPr>
              <a:t>| Evergreen Surgery</a:t>
            </a:r>
            <a:endParaRPr lang="en-US" sz="8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632E4AEA-23C7-05EC-ABCB-88C220A3F2B0}"/>
              </a:ext>
            </a:extLst>
          </p:cNvPr>
          <p:cNvSpPr/>
          <p:nvPr/>
        </p:nvSpPr>
        <p:spPr>
          <a:xfrm rot="10800000">
            <a:off x="8231347" y="4001640"/>
            <a:ext cx="457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>
                <a:solidFill>
                  <a:srgbClr val="00C9C8"/>
                </a:solidFill>
                <a:latin typeface="Georgia"/>
                <a:ea typeface="+mn-lt"/>
                <a:cs typeface="+mn-lt"/>
              </a:rPr>
              <a:t>“</a:t>
            </a:r>
            <a:endParaRPr lang="en-US" sz="32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14">
            <a:extLst>
              <a:ext uri="{FF2B5EF4-FFF2-40B4-BE49-F238E27FC236}">
                <a16:creationId xmlns:a16="http://schemas.microsoft.com/office/drawing/2014/main" id="{5CEB26C2-5592-C574-8608-E258296927FF}"/>
              </a:ext>
            </a:extLst>
          </p:cNvPr>
          <p:cNvSpPr/>
          <p:nvPr/>
        </p:nvSpPr>
        <p:spPr>
          <a:xfrm>
            <a:off x="4800600" y="1134215"/>
            <a:ext cx="3977640" cy="336707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Need - Current Solutions &amp; Gaps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379050" y="1134215"/>
            <a:ext cx="4097080" cy="14150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3546" y="1134215"/>
            <a:ext cx="55148" cy="1419447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492" y="13150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NEED CURRENTLY ADDRESSED?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492051" y="1495550"/>
            <a:ext cx="3834631" cy="798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5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</a:rPr>
              <a:t>In-person follow-up at 6 weeks post-discharge</a:t>
            </a:r>
          </a:p>
          <a:p>
            <a:pPr marL="171450" indent="-171450">
              <a:lnSpc>
                <a:spcPct val="135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</a:rPr>
              <a:t>Patient-initiated nurse hotline / telehealth for symptom reporting</a:t>
            </a:r>
          </a:p>
          <a:p>
            <a:pPr marL="171450" indent="-171450">
              <a:lnSpc>
                <a:spcPct val="135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</a:rPr>
              <a:t>Wound care clinic referral when complications escalate</a:t>
            </a:r>
          </a:p>
        </p:txBody>
      </p:sp>
      <p:sp>
        <p:nvSpPr>
          <p:cNvPr id="12" name="Shape 10"/>
          <p:cNvSpPr/>
          <p:nvPr/>
        </p:nvSpPr>
        <p:spPr>
          <a:xfrm>
            <a:off x="370190" y="2712773"/>
            <a:ext cx="4105940" cy="17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712773"/>
            <a:ext cx="59578" cy="179194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494" y="2828624"/>
            <a:ext cx="3840480" cy="25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B0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CURRENT SOLUTIONS INADEQUATE?</a:t>
            </a:r>
            <a:endParaRPr lang="en-US" sz="900">
              <a:solidFill>
                <a:srgbClr val="B0001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2489" y="2982861"/>
            <a:ext cx="3821341" cy="136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</a:rPr>
              <a:t>No longitudinal data between discharge and 6-week visit - a 42-day "black box”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</a:rPr>
              <a:t>Exhausted new parents must self-identify clinical signs (erythema, edema) without expertise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</a:rPr>
              <a:t>Geographic barriers in rural maternity deserts delay presentation until infections become systemic</a:t>
            </a:r>
          </a:p>
        </p:txBody>
      </p:sp>
      <p:sp>
        <p:nvSpPr>
          <p:cNvPr id="17" name="Text 15"/>
          <p:cNvSpPr/>
          <p:nvPr/>
        </p:nvSpPr>
        <p:spPr>
          <a:xfrm>
            <a:off x="5745801" y="1350720"/>
            <a:ext cx="20872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 GAP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700" b="1" i="1" kern="0" spc="2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COMPLICATIONS OCCUR</a:t>
            </a:r>
            <a:endParaRPr lang="en-US" sz="700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47346" y="2269271"/>
            <a:ext cx="3566160" cy="109728"/>
          </a:xfrm>
          <a:prstGeom prst="rect">
            <a:avLst/>
          </a:prstGeom>
          <a:solidFill>
            <a:srgbClr val="D8E8EC"/>
          </a:solidFill>
          <a:ln w="1270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84906" y="2186975"/>
            <a:ext cx="228600" cy="274320"/>
          </a:xfrm>
          <a:prstGeom prst="rect">
            <a:avLst/>
          </a:prstGeom>
          <a:solidFill>
            <a:srgbClr val="D8E8EC"/>
          </a:solidFill>
          <a:ln w="1270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47346" y="2083263"/>
            <a:ext cx="54864" cy="429768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45010" y="248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</a:t>
            </a:r>
            <a:endParaRPr lang="en-US" sz="8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00"/>
          </a:p>
        </p:txBody>
      </p:sp>
      <p:sp>
        <p:nvSpPr>
          <p:cNvPr id="22" name="Text 20"/>
          <p:cNvSpPr/>
          <p:nvPr/>
        </p:nvSpPr>
        <p:spPr>
          <a:xfrm>
            <a:off x="5801596" y="1843839"/>
            <a:ext cx="1559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Infection</a:t>
            </a:r>
            <a:r>
              <a:rPr lang="en-US" sz="900"/>
              <a:t> </a:t>
            </a:r>
            <a:r>
              <a:rPr lang="en-US" sz="9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8064866" y="2078851"/>
            <a:ext cx="54864" cy="4297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27519" y="2500599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</a:t>
            </a:r>
            <a:endParaRPr lang="en-US" sz="8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5102210" y="2196119"/>
            <a:ext cx="2962656" cy="256032"/>
          </a:xfrm>
          <a:prstGeom prst="rect">
            <a:avLst/>
          </a:prstGeom>
          <a:solidFill>
            <a:srgbClr val="B00020">
              <a:alpha val="20000"/>
            </a:srgbClr>
          </a:solidFill>
          <a:ln w="12700">
            <a:solidFill>
              <a:srgbClr val="B000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06340" y="2957799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 Window: Days 4-7 | Unmonitored Period: Days 1-42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5515749" y="3120181"/>
            <a:ext cx="2547341" cy="3425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SSIs present Days 4-7 post-op </a:t>
            </a:r>
          </a:p>
          <a:p>
            <a:pPr algn="ctr"/>
            <a:r>
              <a:rPr lang="en-US" sz="800" i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(AJOG, 2025; British Journal of Nursing, 2024)</a:t>
            </a:r>
            <a:endParaRPr lang="en-US" sz="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5759D907-C137-393F-C6D7-0D79EFAA7927}"/>
              </a:ext>
            </a:extLst>
          </p:cNvPr>
          <p:cNvSpPr/>
          <p:nvPr/>
        </p:nvSpPr>
        <p:spPr>
          <a:xfrm>
            <a:off x="4800600" y="3625079"/>
            <a:ext cx="3977640" cy="876206"/>
          </a:xfrm>
          <a:prstGeom prst="rect">
            <a:avLst/>
          </a:prstGeom>
          <a:solidFill>
            <a:srgbClr val="12324F"/>
          </a:solidFill>
          <a:ln w="12700">
            <a:solidFill>
              <a:srgbClr val="00C9C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06340" y="3702101"/>
            <a:ext cx="3703320" cy="6793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850" i="1">
                <a:solidFill>
                  <a:srgbClr val="FFFFFF"/>
                </a:solidFill>
                <a:ea typeface="+mn-lt"/>
                <a:cs typeface="+mn-lt"/>
              </a:rPr>
              <a:t>Remote monitoring provides essential oversight during the 14-day window where the most dangerous recovery gaps exist.</a:t>
            </a:r>
            <a:endParaRPr lang="en-US" sz="850" i="1"/>
          </a:p>
          <a:p>
            <a:pPr>
              <a:lnSpc>
                <a:spcPct val="130000"/>
              </a:lnSpc>
            </a:pPr>
            <a:r>
              <a:rPr lang="en-US" sz="8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                                                         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lang="en-US" sz="8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                                                                 - </a:t>
            </a:r>
            <a:r>
              <a:rPr lang="en-US" sz="850" b="1">
                <a:solidFill>
                  <a:srgbClr val="FFFFFF"/>
                </a:solidFill>
                <a:ea typeface="+mn-lt"/>
                <a:cs typeface="+mn-lt"/>
              </a:rPr>
              <a:t>Dr. Newton de Faria |</a:t>
            </a:r>
            <a:r>
              <a:rPr lang="en-US" sz="850">
                <a:solidFill>
                  <a:srgbClr val="FFFFFF"/>
                </a:solidFill>
                <a:ea typeface="+mn-lt"/>
                <a:cs typeface="+mn-lt"/>
              </a:rPr>
              <a:t> Cornell University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3C165873-7DCF-5739-276E-449A4570EE0A}"/>
              </a:ext>
            </a:extLst>
          </p:cNvPr>
          <p:cNvSpPr/>
          <p:nvPr/>
        </p:nvSpPr>
        <p:spPr>
          <a:xfrm>
            <a:off x="4777740" y="3638620"/>
            <a:ext cx="457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>
                <a:solidFill>
                  <a:srgbClr val="00C9C8"/>
                </a:solidFill>
                <a:latin typeface="Georgia"/>
                <a:ea typeface="+mn-lt"/>
                <a:cs typeface="+mn-lt"/>
              </a:rPr>
              <a:t>“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032158E5-215E-2B74-1389-F2CA640F23B7}"/>
              </a:ext>
            </a:extLst>
          </p:cNvPr>
          <p:cNvSpPr/>
          <p:nvPr/>
        </p:nvSpPr>
        <p:spPr>
          <a:xfrm rot="10800000">
            <a:off x="8317671" y="3699607"/>
            <a:ext cx="457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>
                <a:solidFill>
                  <a:srgbClr val="00C9C8"/>
                </a:solidFill>
                <a:latin typeface="Georgia"/>
                <a:ea typeface="+mn-lt"/>
                <a:cs typeface="+mn-lt"/>
              </a:rPr>
              <a:t>“</a:t>
            </a:r>
            <a:endParaRPr lang="en-US" sz="32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Our Solution  </a:t>
            </a:r>
            <a:endParaRPr lang="en-US" sz="2200">
              <a:latin typeface="Trebuchet M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5120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5120640" cy="27432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-4476404" y="93975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/  PRODUCT OVERVIEW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5760720" y="8229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5669280" y="1024128"/>
            <a:ext cx="3108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1024128"/>
            <a:ext cx="64008" cy="1417320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24728" y="982980"/>
            <a:ext cx="3108960" cy="151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/>
              <a:t>Al-powered RPM for 14-day post-cesarean wound surveillance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/>
              <a:t>CNN detects erythema, edema &amp; closure from daily images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 b="1"/>
              <a:t>Personalized risk score: </a:t>
            </a:r>
            <a:r>
              <a:rPr lang="en-US" sz="950"/>
              <a:t>image data + GDM, obesity, HTN profile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950"/>
              <a:t>Elevated scores trigger surgeon alerts for early triage</a:t>
            </a:r>
          </a:p>
        </p:txBody>
      </p:sp>
      <p:sp>
        <p:nvSpPr>
          <p:cNvPr id="16" name="Text 14"/>
          <p:cNvSpPr/>
          <p:nvPr/>
        </p:nvSpPr>
        <p:spPr>
          <a:xfrm>
            <a:off x="5760720" y="2542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NEED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5669280" y="2743200"/>
            <a:ext cx="310896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69280" y="2743200"/>
            <a:ext cx="64008" cy="2084832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29300" y="2828704"/>
            <a:ext cx="28575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/>
              <a:t>Continuous monitoring vs. episodic 6-week follow-up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/>
              <a:t>Al quantification vs. subjective patient self-assessment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/>
              <a:t>Individualized risk stratification based on clinical history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/>
              <a:t>Asynchronous surgeon triage - no patient travel required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/>
              <a:t>FHIR-integrated findings embedded directly into EHR</a:t>
            </a:r>
          </a:p>
        </p:txBody>
      </p:sp>
      <p:pic>
        <p:nvPicPr>
          <p:cNvPr id="20" name="Picture 19" descr="A diagram of a patient&#10;&#10;AI-generated content may be incorrect.">
            <a:extLst>
              <a:ext uri="{FF2B5EF4-FFF2-40B4-BE49-F238E27FC236}">
                <a16:creationId xmlns:a16="http://schemas.microsoft.com/office/drawing/2014/main" id="{FDE998DF-141A-5B31-58D0-F83C47FBD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0" y="1288472"/>
            <a:ext cx="3544172" cy="33770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Solution - Use Case &amp; Value Proposition</a:t>
            </a:r>
            <a:endParaRPr lang="en-US" sz="2200">
              <a:latin typeface="Trebuchet M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27432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686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80467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PATIENTS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502920" y="163785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502920" y="1763245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Post-cesarean mothers, especially high-risk (GDM, obese, rural)</a:t>
            </a:r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" y="2571750"/>
            <a:ext cx="246888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279344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USE IT</a:t>
            </a:r>
            <a:endParaRPr lang="en-US" sz="900"/>
          </a:p>
        </p:txBody>
      </p:sp>
      <p:sp>
        <p:nvSpPr>
          <p:cNvPr id="16" name="Text 13"/>
          <p:cNvSpPr/>
          <p:nvPr/>
        </p:nvSpPr>
        <p:spPr>
          <a:xfrm>
            <a:off x="502920" y="2939885"/>
            <a:ext cx="2468880" cy="742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photo capture + 1-minute symptom survey via mobile app</a:t>
            </a:r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02920" y="3778455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900"/>
          </a:p>
        </p:txBody>
      </p:sp>
      <p:sp>
        <p:nvSpPr>
          <p:cNvPr id="19" name="Text 16"/>
          <p:cNvSpPr/>
          <p:nvPr/>
        </p:nvSpPr>
        <p:spPr>
          <a:xfrm>
            <a:off x="502920" y="393649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confidence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 visits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travel burden</a:t>
            </a:r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64408" y="804672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64408" y="804672"/>
            <a:ext cx="27432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868680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58768" y="80467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CLINICIANS</a:t>
            </a:r>
            <a:endParaRPr lang="en-US" sz="1300"/>
          </a:p>
        </p:txBody>
      </p:sp>
      <p:sp>
        <p:nvSpPr>
          <p:cNvPr id="24" name="Text 20"/>
          <p:cNvSpPr/>
          <p:nvPr/>
        </p:nvSpPr>
        <p:spPr>
          <a:xfrm>
            <a:off x="3385022" y="1662661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900"/>
          </a:p>
        </p:txBody>
      </p:sp>
      <p:sp>
        <p:nvSpPr>
          <p:cNvPr id="25" name="Text 21"/>
          <p:cNvSpPr/>
          <p:nvPr/>
        </p:nvSpPr>
        <p:spPr>
          <a:xfrm>
            <a:off x="3385022" y="1761561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surgeons, wound care nurses</a:t>
            </a:r>
          </a:p>
        </p:txBody>
      </p:sp>
      <p:sp>
        <p:nvSpPr>
          <p:cNvPr id="26" name="Shape 22"/>
          <p:cNvSpPr/>
          <p:nvPr/>
        </p:nvSpPr>
        <p:spPr>
          <a:xfrm>
            <a:off x="3401568" y="2579029"/>
            <a:ext cx="246888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397603" y="2738717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USE IT</a:t>
            </a:r>
            <a:endParaRPr lang="en-US" sz="900"/>
          </a:p>
        </p:txBody>
      </p:sp>
      <p:sp>
        <p:nvSpPr>
          <p:cNvPr id="28" name="Text 24"/>
          <p:cNvSpPr/>
          <p:nvPr/>
        </p:nvSpPr>
        <p:spPr>
          <a:xfrm>
            <a:off x="3385022" y="398212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data stream - proactive triage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documentation and earlier intervention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 of adverse outcomes</a:t>
            </a:r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hape 25"/>
          <p:cNvSpPr/>
          <p:nvPr/>
        </p:nvSpPr>
        <p:spPr>
          <a:xfrm>
            <a:off x="3401568" y="3648456"/>
            <a:ext cx="246888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401568" y="37772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900"/>
          </a:p>
        </p:txBody>
      </p:sp>
      <p:sp>
        <p:nvSpPr>
          <p:cNvPr id="32" name="Shape 28"/>
          <p:cNvSpPr/>
          <p:nvPr/>
        </p:nvSpPr>
        <p:spPr>
          <a:xfrm>
            <a:off x="6152294" y="76846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163056" y="804672"/>
            <a:ext cx="27432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868680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757416" y="80467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SYSTEMS</a:t>
            </a:r>
            <a:endParaRPr lang="en-US" sz="1300"/>
          </a:p>
        </p:txBody>
      </p:sp>
      <p:sp>
        <p:nvSpPr>
          <p:cNvPr id="36" name="Text 31"/>
          <p:cNvSpPr/>
          <p:nvPr/>
        </p:nvSpPr>
        <p:spPr>
          <a:xfrm>
            <a:off x="6284604" y="1658091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900"/>
          </a:p>
        </p:txBody>
      </p:sp>
      <p:sp>
        <p:nvSpPr>
          <p:cNvPr id="37" name="Text 32"/>
          <p:cNvSpPr/>
          <p:nvPr/>
        </p:nvSpPr>
        <p:spPr>
          <a:xfrm>
            <a:off x="6284604" y="1810016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hospitals, academic medical centers, Medicaid-heavy systems</a:t>
            </a:r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Shape 33"/>
          <p:cNvSpPr/>
          <p:nvPr/>
        </p:nvSpPr>
        <p:spPr>
          <a:xfrm>
            <a:off x="6300216" y="2542032"/>
            <a:ext cx="246888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6300216" y="2733641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USE IT</a:t>
            </a:r>
            <a:endParaRPr lang="en-US" sz="900"/>
          </a:p>
        </p:txBody>
      </p:sp>
      <p:sp>
        <p:nvSpPr>
          <p:cNvPr id="40" name="Text 35"/>
          <p:cNvSpPr/>
          <p:nvPr/>
        </p:nvSpPr>
        <p:spPr>
          <a:xfrm>
            <a:off x="6300216" y="287686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FHIR/EHR integration as a discharge protocol add-on</a:t>
            </a:r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Shape 36"/>
          <p:cNvSpPr/>
          <p:nvPr/>
        </p:nvSpPr>
        <p:spPr>
          <a:xfrm>
            <a:off x="6263640" y="3648456"/>
            <a:ext cx="246888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6300216" y="37772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900"/>
          </a:p>
        </p:txBody>
      </p:sp>
      <p:sp>
        <p:nvSpPr>
          <p:cNvPr id="43" name="Text 38"/>
          <p:cNvSpPr/>
          <p:nvPr/>
        </p:nvSpPr>
        <p:spPr>
          <a:xfrm>
            <a:off x="6284604" y="392726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avoidable readmissions &amp; costs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operational costs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triage with minimal clinical burden</a:t>
            </a:r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6A024E26-71EE-CEA2-97E4-383CDD7F6429}"/>
              </a:ext>
            </a:extLst>
          </p:cNvPr>
          <p:cNvSpPr/>
          <p:nvPr/>
        </p:nvSpPr>
        <p:spPr>
          <a:xfrm>
            <a:off x="502920" y="3681937"/>
            <a:ext cx="246888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E46C42CE-0D87-EA0B-3228-E5BAF89D5C89}"/>
              </a:ext>
            </a:extLst>
          </p:cNvPr>
          <p:cNvSpPr/>
          <p:nvPr/>
        </p:nvSpPr>
        <p:spPr>
          <a:xfrm>
            <a:off x="3385022" y="2896906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AI-flagged risk alerts asynchronously; sign off on healthy recoveries</a:t>
            </a:r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  —  Evidence &amp; User Validation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64008" cy="1920240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896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/ BENCH EVIDENCE GENERATED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521208" y="948489"/>
            <a:ext cx="3794760" cy="1824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risk scoring prototype internally validated across risk levels (1-10)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generates structured physician reports (risk, findings, recommendations, patient guidance)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wound imaging with vitals (temperature, glucose) for multimodal risk assessment</a:t>
            </a:r>
            <a:endParaRPr lang="en-US" sz="9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6541" y="2855421"/>
            <a:ext cx="4094019" cy="208171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64008" cy="1993392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9535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&amp; VALIDATION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530352" y="3090672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 rates following C-section range from ~ 3-15%, with higher risk in vulnerable populations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include GDM, obesity (2-3x higher SSI risk), and prolonged operative time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patient + clinician interface prototyped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access gaps delay follow-up, increasing complication severity at presentation</a:t>
            </a:r>
          </a:p>
        </p:txBody>
      </p:sp>
      <p:sp>
        <p:nvSpPr>
          <p:cNvPr id="16" name="Shape 14"/>
          <p:cNvSpPr/>
          <p:nvPr/>
        </p:nvSpPr>
        <p:spPr>
          <a:xfrm>
            <a:off x="4800600" y="804672"/>
            <a:ext cx="3977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804672"/>
            <a:ext cx="3977640" cy="292608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6D54930C-0AD4-1616-AFA9-FF10FA20286B}"/>
              </a:ext>
            </a:extLst>
          </p:cNvPr>
          <p:cNvSpPr/>
          <p:nvPr/>
        </p:nvSpPr>
        <p:spPr>
          <a:xfrm>
            <a:off x="4892040" y="1115455"/>
            <a:ext cx="3792682" cy="1077173"/>
          </a:xfrm>
          <a:prstGeom prst="rect">
            <a:avLst/>
          </a:prstGeom>
          <a:solidFill>
            <a:srgbClr val="12324F"/>
          </a:solidFill>
          <a:ln w="12700">
            <a:solidFill>
              <a:srgbClr val="00C9C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8046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COMPELLING USER FEEDBACK</a:t>
            </a:r>
            <a:endParaRPr lang="en-US" sz="750"/>
          </a:p>
        </p:txBody>
      </p:sp>
      <p:sp>
        <p:nvSpPr>
          <p:cNvPr id="20" name="Text 18"/>
          <p:cNvSpPr/>
          <p:nvPr/>
        </p:nvSpPr>
        <p:spPr>
          <a:xfrm>
            <a:off x="5120640" y="1278564"/>
            <a:ext cx="3520440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8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SurgeSentinel addresses a gap that health systems have struggled to close for years;  post-discharge wound monitoring in underserved populations. This is exactly the kind of AI-driven solution that hospital leadership will want at the table.</a:t>
            </a:r>
          </a:p>
          <a:p>
            <a:pPr>
              <a:lnSpc>
                <a:spcPct val="130000"/>
              </a:lnSpc>
            </a:pPr>
            <a:r>
              <a:rPr lang="en-US" sz="8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                  — </a:t>
            </a: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Dr. Nick Fabrizio</a:t>
            </a: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Retired Health System Executive/Consultant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92040" y="2298469"/>
            <a:ext cx="3794760" cy="2449322"/>
          </a:xfrm>
          <a:prstGeom prst="rect">
            <a:avLst/>
          </a:prstGeom>
          <a:solidFill>
            <a:srgbClr val="EAF4F7"/>
          </a:solidFill>
          <a:ln w="1270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 descr="A screenshot of a phone&#10;&#10;AI-generated content may be incorrect.">
            <a:extLst>
              <a:ext uri="{FF2B5EF4-FFF2-40B4-BE49-F238E27FC236}">
                <a16:creationId xmlns:a16="http://schemas.microsoft.com/office/drawing/2014/main" id="{9AE67389-6C25-7855-D8CE-D67132D1A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929" y="2284068"/>
            <a:ext cx="3198062" cy="2470456"/>
          </a:xfrm>
          <a:prstGeom prst="rect">
            <a:avLst/>
          </a:prstGeom>
        </p:spPr>
      </p:pic>
      <p:sp>
        <p:nvSpPr>
          <p:cNvPr id="25" name="Text 25">
            <a:extLst>
              <a:ext uri="{FF2B5EF4-FFF2-40B4-BE49-F238E27FC236}">
                <a16:creationId xmlns:a16="http://schemas.microsoft.com/office/drawing/2014/main" id="{917E5347-E1FD-C1AB-C7B7-0227E1F6FBC1}"/>
              </a:ext>
            </a:extLst>
          </p:cNvPr>
          <p:cNvSpPr/>
          <p:nvPr/>
        </p:nvSpPr>
        <p:spPr>
          <a:xfrm>
            <a:off x="4892040" y="1170779"/>
            <a:ext cx="457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>
                <a:solidFill>
                  <a:srgbClr val="00C9C8"/>
                </a:solidFill>
                <a:latin typeface="Georgia"/>
                <a:ea typeface="+mn-lt"/>
                <a:cs typeface="+mn-lt"/>
              </a:rPr>
              <a:t>“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86C7167-AC87-3F16-F36A-CED210A056E1}"/>
              </a:ext>
            </a:extLst>
          </p:cNvPr>
          <p:cNvSpPr/>
          <p:nvPr/>
        </p:nvSpPr>
        <p:spPr>
          <a:xfrm rot="10800000">
            <a:off x="8227522" y="1469274"/>
            <a:ext cx="457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>
                <a:solidFill>
                  <a:srgbClr val="00C9C8"/>
                </a:solidFill>
                <a:latin typeface="Georgia"/>
                <a:ea typeface="+mn-lt"/>
                <a:cs typeface="+mn-lt"/>
              </a:rPr>
              <a:t>“</a:t>
            </a:r>
            <a:endParaRPr lang="en-US" sz="32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73DD2-7F17-F24C-4754-C3097ACF0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20F992-C815-13E1-3D0E-F1B26364E39F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1B5978E-7101-DF67-BCE8-25CED48FADF7}"/>
              </a:ext>
            </a:extLst>
          </p:cNvPr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F28DF1-2E4A-3D8C-DD14-F574AA76B2F6}"/>
              </a:ext>
            </a:extLst>
          </p:cNvPr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Implementation</a:t>
            </a:r>
            <a:endParaRPr lang="en-US" sz="2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792A15-F2BE-A93C-BC85-614C5BEE5FF9}"/>
              </a:ext>
            </a:extLst>
          </p:cNvPr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4418284-2700-D894-AB53-D7F346068B7B}"/>
              </a:ext>
            </a:extLst>
          </p:cNvPr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176C8B1-D15B-F481-AA52-6C1C9842353D}"/>
              </a:ext>
            </a:extLst>
          </p:cNvPr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0C99027-7973-1C42-57EB-D79751F62C8E}"/>
              </a:ext>
            </a:extLst>
          </p:cNvPr>
          <p:cNvSpPr/>
          <p:nvPr/>
        </p:nvSpPr>
        <p:spPr>
          <a:xfrm>
            <a:off x="365760" y="804672"/>
            <a:ext cx="3840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176A9A8-9289-7062-2F80-C4FE0436388D}"/>
              </a:ext>
            </a:extLst>
          </p:cNvPr>
          <p:cNvSpPr/>
          <p:nvPr/>
        </p:nvSpPr>
        <p:spPr>
          <a:xfrm>
            <a:off x="365760" y="804672"/>
            <a:ext cx="64008" cy="4114800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A9951C-22C2-AB2E-F92E-F9EA21E06961}"/>
              </a:ext>
            </a:extLst>
          </p:cNvPr>
          <p:cNvSpPr/>
          <p:nvPr/>
        </p:nvSpPr>
        <p:spPr>
          <a:xfrm>
            <a:off x="530352" y="896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cs typeface="Calibri" pitchFamily="34" charset="-120"/>
              </a:rPr>
              <a:t>INPUT: PATIENT PROFILES</a:t>
            </a:r>
            <a:endParaRPr lang="en-US" sz="9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A0E0F2B-9943-9ED1-9406-A3DEA5C0DF6B}"/>
              </a:ext>
            </a:extLst>
          </p:cNvPr>
          <p:cNvSpPr/>
          <p:nvPr/>
        </p:nvSpPr>
        <p:spPr>
          <a:xfrm>
            <a:off x="4684224" y="804672"/>
            <a:ext cx="3840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8C89400-07C3-70B0-C094-8D2EC62C6FD4}"/>
              </a:ext>
            </a:extLst>
          </p:cNvPr>
          <p:cNvSpPr/>
          <p:nvPr/>
        </p:nvSpPr>
        <p:spPr>
          <a:xfrm>
            <a:off x="4663442" y="783890"/>
            <a:ext cx="64008" cy="4114800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D9E9076-D110-BDC6-035D-F6893561FFE4}"/>
              </a:ext>
            </a:extLst>
          </p:cNvPr>
          <p:cNvSpPr/>
          <p:nvPr/>
        </p:nvSpPr>
        <p:spPr>
          <a:xfrm>
            <a:off x="4828034" y="902763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EHR &amp; PATIENT FEEDBACK</a:t>
            </a:r>
            <a:endParaRPr lang="en-US" sz="90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D71B268-F690-DBCB-E6C5-3BCE7A5F3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70432"/>
            <a:ext cx="3460586" cy="36557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BDABE26-61E8-B2DA-5258-D9F98CBD8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4" y="1170432"/>
            <a:ext cx="3498575" cy="360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1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EA4C2-7EAD-FFA1-B571-851356DE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988A62-529B-C9A9-5603-4D2A319DF2B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827CD6-C60D-B797-22C1-060C4F7989D7}"/>
              </a:ext>
            </a:extLst>
          </p:cNvPr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EB521D-74BD-73AD-F55D-69746911EE68}"/>
              </a:ext>
            </a:extLst>
          </p:cNvPr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Input Images</a:t>
            </a:r>
            <a:endParaRPr lang="en-US" sz="2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493FD8-19BC-969F-A70D-D3C30741F2D1}"/>
              </a:ext>
            </a:extLst>
          </p:cNvPr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4425836-F9CF-9A1A-E290-40C370F6DB6D}"/>
              </a:ext>
            </a:extLst>
          </p:cNvPr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E5F4B24-66D9-CB50-93CF-BF738D10CCBF}"/>
              </a:ext>
            </a:extLst>
          </p:cNvPr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EE9A908-E43E-15BE-226E-97334D11D78B}"/>
              </a:ext>
            </a:extLst>
          </p:cNvPr>
          <p:cNvSpPr/>
          <p:nvPr/>
        </p:nvSpPr>
        <p:spPr>
          <a:xfrm>
            <a:off x="411480" y="1609646"/>
            <a:ext cx="3840480" cy="24662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5A4D931-067E-3018-A7AC-32DE8E7109CA}"/>
              </a:ext>
            </a:extLst>
          </p:cNvPr>
          <p:cNvSpPr/>
          <p:nvPr/>
        </p:nvSpPr>
        <p:spPr>
          <a:xfrm>
            <a:off x="411480" y="1609646"/>
            <a:ext cx="64008" cy="2466249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618904A-F06D-1BF1-EF20-9039DC379525}"/>
              </a:ext>
            </a:extLst>
          </p:cNvPr>
          <p:cNvSpPr/>
          <p:nvPr/>
        </p:nvSpPr>
        <p:spPr>
          <a:xfrm>
            <a:off x="4684224" y="1609646"/>
            <a:ext cx="3840480" cy="2487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E501212-F3F1-DD21-843F-CFD476FD4126}"/>
              </a:ext>
            </a:extLst>
          </p:cNvPr>
          <p:cNvSpPr/>
          <p:nvPr/>
        </p:nvSpPr>
        <p:spPr>
          <a:xfrm>
            <a:off x="4663442" y="1609646"/>
            <a:ext cx="64008" cy="2466249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524C937-BEA3-4E8C-F37C-C3B829C3AAD1}"/>
              </a:ext>
            </a:extLst>
          </p:cNvPr>
          <p:cNvSpPr/>
          <p:nvPr/>
        </p:nvSpPr>
        <p:spPr>
          <a:xfrm>
            <a:off x="4784808" y="1693203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CATEGORIZATION: </a:t>
            </a:r>
            <a:r>
              <a:rPr lang="en-US" sz="900" b="1" kern="0" spc="20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0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986B88-CF5D-3401-0C86-F0879A0CB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820708"/>
            <a:ext cx="3390900" cy="21642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85E47A-CD4C-4E34-75DC-88632BD33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06787"/>
            <a:ext cx="3315470" cy="2078175"/>
          </a:xfrm>
          <a:prstGeom prst="rect">
            <a:avLst/>
          </a:prstGeom>
        </p:spPr>
      </p:pic>
      <p:sp>
        <p:nvSpPr>
          <p:cNvPr id="10" name="Text 8">
            <a:extLst>
              <a:ext uri="{FF2B5EF4-FFF2-40B4-BE49-F238E27FC236}">
                <a16:creationId xmlns:a16="http://schemas.microsoft.com/office/drawing/2014/main" id="{6DA2A9BC-E337-775C-14BA-E6215DD4318B}"/>
              </a:ext>
            </a:extLst>
          </p:cNvPr>
          <p:cNvSpPr/>
          <p:nvPr/>
        </p:nvSpPr>
        <p:spPr>
          <a:xfrm>
            <a:off x="532846" y="1678987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cs typeface="Calibri" pitchFamily="34" charset="-120"/>
              </a:rPr>
              <a:t>CATEGORIZATION: </a:t>
            </a:r>
            <a:r>
              <a:rPr lang="en-US" sz="900" b="1" kern="0" spc="200">
                <a:solidFill>
                  <a:srgbClr val="00B050"/>
                </a:solidFill>
                <a:latin typeface="Calibri" pitchFamily="34" charset="0"/>
                <a:cs typeface="Calibri" pitchFamily="34" charset="-120"/>
              </a:rPr>
              <a:t>HEALTHY</a:t>
            </a:r>
            <a:endParaRPr lang="en-US" sz="90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435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36067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194560" y="0"/>
            <a:ext cx="182880" cy="51435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320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INTELLECTUAL</a:t>
            </a:r>
            <a:endParaRPr lang="en-US" sz="16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37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300">
                <a:solidFill>
                  <a:srgbClr val="00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SURGESENTINEL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137160" y="1508760"/>
            <a:ext cx="1920240" cy="0"/>
          </a:xfrm>
          <a:prstGeom prst="line">
            <a:avLst/>
          </a:prstGeom>
          <a:noFill/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7160" y="2759326"/>
            <a:ext cx="20116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00" i="1">
              <a:solidFill>
                <a:srgbClr val="9DB8C4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000" i="1">
              <a:solidFill>
                <a:srgbClr val="9DB8C4"/>
              </a:solidFill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52004" y="3018427"/>
            <a:ext cx="1737360" cy="4572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51510" y="3013891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Class Il Software Medical Device (SaMD)</a:t>
            </a:r>
          </a:p>
          <a:p>
            <a:pPr algn="ctr"/>
            <a:r>
              <a:rPr lang="en-US" sz="600" b="1" i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Target</a:t>
            </a:r>
            <a:endParaRPr lang="en-US" sz="600" i="1"/>
          </a:p>
        </p:txBody>
      </p:sp>
      <p:sp>
        <p:nvSpPr>
          <p:cNvPr id="13" name="Shape 10"/>
          <p:cNvSpPr/>
          <p:nvPr/>
        </p:nvSpPr>
        <p:spPr>
          <a:xfrm>
            <a:off x="2514600" y="164592"/>
            <a:ext cx="6309360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608118" y="128224"/>
            <a:ext cx="63093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r>
              <a:rPr lang="en-US" sz="1100" b="1">
                <a:solidFill>
                  <a:srgbClr val="FFFFFF"/>
                </a:solidFill>
                <a:latin typeface="Trebuchet MS"/>
              </a:rPr>
              <a:t>MAIN INTELLECTUAL PROPERTY COMPONENTS </a:t>
            </a:r>
          </a:p>
        </p:txBody>
      </p:sp>
      <p:sp>
        <p:nvSpPr>
          <p:cNvPr id="15" name="Shape 12"/>
          <p:cNvSpPr/>
          <p:nvPr/>
        </p:nvSpPr>
        <p:spPr>
          <a:xfrm>
            <a:off x="2514600" y="658368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14600" y="658368"/>
            <a:ext cx="64008" cy="1600200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606040" y="69494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007C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2633472" y="91232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Risk-Weighted Scoring Algorithm</a:t>
            </a:r>
            <a:endParaRPr lang="en-US" sz="900"/>
          </a:p>
        </p:txBody>
      </p:sp>
      <p:sp>
        <p:nvSpPr>
          <p:cNvPr id="19" name="Text 16"/>
          <p:cNvSpPr/>
          <p:nvPr/>
        </p:nvSpPr>
        <p:spPr>
          <a:xfrm>
            <a:off x="2633472" y="1303020"/>
            <a:ext cx="18288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Wingdings" pitchFamily="2" charset="2"/>
              <a:buChar char="v"/>
            </a:pP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Novel method combining patient risk factors (BMI, GDM, HTN, surgery duration)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Real-time wound imaging &gt; generates personalized infection risk score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Patentable process</a:t>
            </a:r>
          </a:p>
        </p:txBody>
      </p:sp>
      <p:sp>
        <p:nvSpPr>
          <p:cNvPr id="20" name="Shape 17"/>
          <p:cNvSpPr/>
          <p:nvPr/>
        </p:nvSpPr>
        <p:spPr>
          <a:xfrm>
            <a:off x="4690872" y="658368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90872" y="658368"/>
            <a:ext cx="64008" cy="1600200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82312" y="69494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007C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/>
          </a:p>
        </p:txBody>
      </p:sp>
      <p:sp>
        <p:nvSpPr>
          <p:cNvPr id="23" name="Text 20"/>
          <p:cNvSpPr/>
          <p:nvPr/>
        </p:nvSpPr>
        <p:spPr>
          <a:xfrm>
            <a:off x="4809744" y="9189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Wound Analysis Model</a:t>
            </a:r>
            <a:endParaRPr lang="en-US" sz="900"/>
          </a:p>
        </p:txBody>
      </p:sp>
      <p:sp>
        <p:nvSpPr>
          <p:cNvPr id="24" name="Text 21"/>
          <p:cNvSpPr/>
          <p:nvPr/>
        </p:nvSpPr>
        <p:spPr>
          <a:xfrm>
            <a:off x="4809744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Wingdings" pitchFamily="2" charset="2"/>
              <a:buChar char="v"/>
            </a:pP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Trained</a:t>
            </a: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 architecture </a:t>
            </a: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quantifying erythema, edema &amp; wound approximation from consumer images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Calibrated across multi-ethnic skin tones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Protectable through a patent.</a:t>
            </a:r>
          </a:p>
        </p:txBody>
      </p:sp>
      <p:sp>
        <p:nvSpPr>
          <p:cNvPr id="25" name="Shape 22"/>
          <p:cNvSpPr/>
          <p:nvPr/>
        </p:nvSpPr>
        <p:spPr>
          <a:xfrm>
            <a:off x="6858000" y="658368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858000" y="658368"/>
            <a:ext cx="64008" cy="1600200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49440" y="69494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007C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/>
          </a:p>
        </p:txBody>
      </p:sp>
      <p:sp>
        <p:nvSpPr>
          <p:cNvPr id="28" name="Text 25"/>
          <p:cNvSpPr/>
          <p:nvPr/>
        </p:nvSpPr>
        <p:spPr>
          <a:xfrm>
            <a:off x="6976872" y="92498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Clinical Workflow</a:t>
            </a:r>
            <a:endParaRPr lang="en-US" sz="900"/>
          </a:p>
        </p:txBody>
      </p:sp>
      <p:sp>
        <p:nvSpPr>
          <p:cNvPr id="29" name="Text 26"/>
          <p:cNvSpPr/>
          <p:nvPr/>
        </p:nvSpPr>
        <p:spPr>
          <a:xfrm>
            <a:off x="6976872" y="1231969"/>
            <a:ext cx="18288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Wingdings" pitchFamily="2" charset="2"/>
              <a:buChar char="v"/>
            </a:pP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Novel digital triage process that synchronizes longitudinal data with electronic health records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Allows surgeons to asynchronously review and sign off on recoveries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514600" y="2377440"/>
            <a:ext cx="6309360" cy="384048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581532" y="2377440"/>
            <a:ext cx="630936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r>
              <a:rPr lang="en-US" sz="1100" b="1">
                <a:solidFill>
                  <a:srgbClr val="FFFFFF"/>
                </a:solidFill>
                <a:latin typeface="Trebuchet MS"/>
              </a:rPr>
              <a:t>PROTECTION STRATEGIES </a:t>
            </a:r>
          </a:p>
        </p:txBody>
      </p:sp>
      <p:sp>
        <p:nvSpPr>
          <p:cNvPr id="32" name="Text 29"/>
          <p:cNvSpPr/>
          <p:nvPr/>
        </p:nvSpPr>
        <p:spPr>
          <a:xfrm>
            <a:off x="2514600" y="2788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700"/>
          </a:p>
        </p:txBody>
      </p:sp>
      <p:sp>
        <p:nvSpPr>
          <p:cNvPr id="33" name="Text 30"/>
          <p:cNvSpPr/>
          <p:nvPr/>
        </p:nvSpPr>
        <p:spPr>
          <a:xfrm>
            <a:off x="3609656" y="27580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700"/>
          </a:p>
        </p:txBody>
      </p:sp>
      <p:sp>
        <p:nvSpPr>
          <p:cNvPr id="34" name="Text 31"/>
          <p:cNvSpPr/>
          <p:nvPr/>
        </p:nvSpPr>
        <p:spPr>
          <a:xfrm>
            <a:off x="5531585" y="2758028"/>
            <a:ext cx="3328416" cy="2011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700"/>
          </a:p>
        </p:txBody>
      </p:sp>
      <p:sp>
        <p:nvSpPr>
          <p:cNvPr id="35" name="Shape 32"/>
          <p:cNvSpPr/>
          <p:nvPr/>
        </p:nvSpPr>
        <p:spPr>
          <a:xfrm>
            <a:off x="2514600" y="3017520"/>
            <a:ext cx="1005840" cy="2560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514600" y="3017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00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00"/>
          </a:p>
        </p:txBody>
      </p:sp>
      <p:sp>
        <p:nvSpPr>
          <p:cNvPr id="37" name="Shape 34"/>
          <p:cNvSpPr/>
          <p:nvPr/>
        </p:nvSpPr>
        <p:spPr>
          <a:xfrm>
            <a:off x="3550692" y="3015314"/>
            <a:ext cx="1920240" cy="256032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609656" y="2991777"/>
            <a:ext cx="192024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0D1B40"/>
                </a:solidFill>
                <a:latin typeface="Calibri"/>
                <a:ea typeface="Calibri"/>
                <a:cs typeface="Calibri"/>
              </a:rPr>
              <a:t>Utility Patent </a:t>
            </a:r>
            <a:endParaRPr lang="en-US" sz="800"/>
          </a:p>
        </p:txBody>
      </p:sp>
      <p:sp>
        <p:nvSpPr>
          <p:cNvPr id="39" name="Shape 36"/>
          <p:cNvSpPr/>
          <p:nvPr/>
        </p:nvSpPr>
        <p:spPr>
          <a:xfrm>
            <a:off x="5495544" y="3017520"/>
            <a:ext cx="3328416" cy="256032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568115" y="2990306"/>
            <a:ext cx="332841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Risk-stratification algorithm &amp; image-to-risk scoring method</a:t>
            </a:r>
            <a:endParaRPr lang="en-US" sz="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Shape 38"/>
          <p:cNvSpPr/>
          <p:nvPr/>
        </p:nvSpPr>
        <p:spPr>
          <a:xfrm>
            <a:off x="2514600" y="3310128"/>
            <a:ext cx="1005840" cy="256032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514600" y="33101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00"/>
          </a:p>
        </p:txBody>
      </p:sp>
      <p:sp>
        <p:nvSpPr>
          <p:cNvPr id="43" name="Shape 40"/>
          <p:cNvSpPr/>
          <p:nvPr/>
        </p:nvSpPr>
        <p:spPr>
          <a:xfrm>
            <a:off x="3547872" y="3310128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609656" y="3268939"/>
            <a:ext cx="192024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Secret</a:t>
            </a:r>
            <a:endParaRPr lang="en-US" sz="800"/>
          </a:p>
        </p:txBody>
      </p:sp>
      <p:sp>
        <p:nvSpPr>
          <p:cNvPr id="45" name="Shape 42"/>
          <p:cNvSpPr/>
          <p:nvPr/>
        </p:nvSpPr>
        <p:spPr>
          <a:xfrm>
            <a:off x="5495544" y="3310128"/>
            <a:ext cx="332841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568115" y="3269307"/>
            <a:ext cx="332841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weights, proprietary training dataset, scoring thresholds</a:t>
            </a:r>
            <a:endParaRPr lang="en-US" sz="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Shape 44"/>
          <p:cNvSpPr/>
          <p:nvPr/>
        </p:nvSpPr>
        <p:spPr>
          <a:xfrm>
            <a:off x="2514600" y="3602736"/>
            <a:ext cx="100584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514600" y="3602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700"/>
          </a:p>
        </p:txBody>
      </p:sp>
      <p:sp>
        <p:nvSpPr>
          <p:cNvPr id="49" name="Shape 46"/>
          <p:cNvSpPr/>
          <p:nvPr/>
        </p:nvSpPr>
        <p:spPr>
          <a:xfrm>
            <a:off x="3547872" y="3602736"/>
            <a:ext cx="1920240" cy="256032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3609656" y="3566695"/>
            <a:ext cx="192024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800"/>
          </a:p>
        </p:txBody>
      </p:sp>
      <p:sp>
        <p:nvSpPr>
          <p:cNvPr id="51" name="Shape 48"/>
          <p:cNvSpPr/>
          <p:nvPr/>
        </p:nvSpPr>
        <p:spPr>
          <a:xfrm>
            <a:off x="5495544" y="3602736"/>
            <a:ext cx="3328416" cy="256032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568115" y="3575522"/>
            <a:ext cx="332841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 code and software</a:t>
            </a:r>
            <a:endParaRPr lang="en-US" sz="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Shape 50"/>
          <p:cNvSpPr/>
          <p:nvPr/>
        </p:nvSpPr>
        <p:spPr>
          <a:xfrm>
            <a:off x="2514600" y="3895344"/>
            <a:ext cx="1005840" cy="256032"/>
          </a:xfrm>
          <a:prstGeom prst="rect">
            <a:avLst/>
          </a:prstGeom>
          <a:solidFill>
            <a:srgbClr val="2E5C6E"/>
          </a:solidFill>
          <a:ln w="12700">
            <a:solidFill>
              <a:srgbClr val="2E5C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2514600" y="38953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700"/>
          </a:p>
        </p:txBody>
      </p:sp>
      <p:sp>
        <p:nvSpPr>
          <p:cNvPr id="55" name="Shape 52"/>
          <p:cNvSpPr/>
          <p:nvPr/>
        </p:nvSpPr>
        <p:spPr>
          <a:xfrm>
            <a:off x="3547872" y="3895344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611372" y="3859058"/>
            <a:ext cx="192024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</a:t>
            </a:r>
            <a:endParaRPr lang="en-US" sz="800"/>
          </a:p>
        </p:txBody>
      </p:sp>
      <p:sp>
        <p:nvSpPr>
          <p:cNvPr id="57" name="Shape 54"/>
          <p:cNvSpPr/>
          <p:nvPr/>
        </p:nvSpPr>
        <p:spPr>
          <a:xfrm>
            <a:off x="5495544" y="3895344"/>
            <a:ext cx="332841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568115" y="3859058"/>
            <a:ext cx="332841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"SurgeSentinel" name and logo</a:t>
            </a:r>
            <a:endParaRPr lang="en-US" sz="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Shape 56"/>
          <p:cNvSpPr/>
          <p:nvPr/>
        </p:nvSpPr>
        <p:spPr>
          <a:xfrm>
            <a:off x="2514600" y="4270248"/>
            <a:ext cx="6309360" cy="301752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2569029" y="4252105"/>
            <a:ext cx="6309360" cy="30175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r>
              <a:rPr lang="en-US" sz="1100" b="1">
                <a:solidFill>
                  <a:srgbClr val="0D1B40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IP STRENGTH + COMPETITION ANALYSIS</a:t>
            </a:r>
            <a:endParaRPr lang="en-US" sz="1100">
              <a:latin typeface="Trebuchet MS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2514600" y="4690872"/>
            <a:ext cx="109728" cy="109728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2644071" y="4676324"/>
            <a:ext cx="5210001" cy="240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Obstetric-specific RPM - no known direct AI competitor in post-C-section wound monitoring</a:t>
            </a:r>
            <a:endParaRPr lang="en-US" sz="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Shape 60"/>
          <p:cNvSpPr/>
          <p:nvPr/>
        </p:nvSpPr>
        <p:spPr>
          <a:xfrm>
            <a:off x="2516263" y="4924044"/>
            <a:ext cx="109728" cy="109728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2642616" y="4850892"/>
            <a:ext cx="30175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7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Multi-ethnic training dataset </a:t>
            </a:r>
          </a:p>
        </p:txBody>
      </p:sp>
      <p:sp>
        <p:nvSpPr>
          <p:cNvPr id="69" name="Shape 66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/>
          </a:p>
        </p:txBody>
      </p:sp>
      <p:pic>
        <p:nvPicPr>
          <p:cNvPr id="72" name="Picture 71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7B8E152D-D30C-E5F2-ABEA-7EA56596C4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81" t="29574" r="18482" b="23081"/>
          <a:stretch>
            <a:fillRect/>
          </a:stretch>
        </p:blipFill>
        <p:spPr>
          <a:xfrm>
            <a:off x="318015" y="1695837"/>
            <a:ext cx="1600532" cy="119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Development Strategy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2743200" cy="3200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FEASIBILITY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502920" y="1170432"/>
            <a:ext cx="246888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CNN prototype trained and tested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Dual patient/physician interface built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Batch JSON analysis pipeline generating structured clinical reports demonstrated</a:t>
            </a:r>
            <a:endParaRPr lang="en-US" sz="95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64408" y="804672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64408" y="804672"/>
            <a:ext cx="2743200" cy="3200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64408" y="804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RISKS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3470425" y="1136004"/>
            <a:ext cx="2193456" cy="126446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Model generalizability across skin tones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Consumer image quality variability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EHR integration complexity </a:t>
            </a:r>
          </a:p>
        </p:txBody>
      </p:sp>
      <p:sp>
        <p:nvSpPr>
          <p:cNvPr id="16" name="Shape 14"/>
          <p:cNvSpPr/>
          <p:nvPr/>
        </p:nvSpPr>
        <p:spPr>
          <a:xfrm>
            <a:off x="6163056" y="804672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804672"/>
            <a:ext cx="2743200" cy="3200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63056" y="804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MITIGATION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6245132" y="1170433"/>
            <a:ext cx="2579048" cy="1230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Multi-ethnic data set sourced from diverse OB centers (built into training phase)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In-app lighting guidance and image quality gating</a:t>
            </a:r>
          </a:p>
          <a:p>
            <a:pPr marL="171450" indent="-171450">
              <a:lnSpc>
                <a:spcPct val="125000"/>
              </a:lnSpc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FHIR R4 Standard API design from day one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257860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578608"/>
            <a:ext cx="64008" cy="105156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2624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DELIVERY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530352" y="2816352"/>
            <a:ext cx="3794760" cy="7498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Cloud SaaS, iOS/Android app, HIPAA-compliant infrastructure, FHIR/EHR layer. No</a:t>
            </a: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 physical manufacturing necessary.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0600" y="2578608"/>
            <a:ext cx="3977640" cy="10515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65192" y="26243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REQUIRED</a:t>
            </a:r>
            <a:endParaRPr lang="en-US" sz="700"/>
          </a:p>
        </p:txBody>
      </p:sp>
      <p:sp>
        <p:nvSpPr>
          <p:cNvPr id="26" name="Text 24"/>
          <p:cNvSpPr/>
          <p:nvPr/>
        </p:nvSpPr>
        <p:spPr>
          <a:xfrm>
            <a:off x="4929749" y="2795805"/>
            <a:ext cx="3387687" cy="404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00C9C8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$1,500,000 Funding</a:t>
            </a:r>
            <a:r>
              <a:rPr lang="en-US" sz="1800" b="1">
                <a:solidFill>
                  <a:srgbClr val="00C9C8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Stage</a:t>
            </a:r>
            <a:endParaRPr lang="en-US" sz="1800">
              <a:latin typeface="Trebuchet M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29749" y="3180170"/>
            <a:ext cx="36576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Algorithm refinement, clinical pilot, FDA pre-submission package, engineering team</a:t>
            </a:r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8412480" cy="256032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TIMELINE  ·  GANTT CHART</a:t>
            </a:r>
            <a:endParaRPr lang="en-US" sz="800"/>
          </a:p>
        </p:txBody>
      </p:sp>
      <p:sp>
        <p:nvSpPr>
          <p:cNvPr id="31" name="Text 29"/>
          <p:cNvSpPr/>
          <p:nvPr/>
        </p:nvSpPr>
        <p:spPr>
          <a:xfrm>
            <a:off x="731520" y="404164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Dev</a:t>
            </a:r>
            <a:endParaRPr lang="en-US" sz="750"/>
          </a:p>
        </p:txBody>
      </p:sp>
      <p:sp>
        <p:nvSpPr>
          <p:cNvPr id="32" name="Shape 30"/>
          <p:cNvSpPr/>
          <p:nvPr/>
        </p:nvSpPr>
        <p:spPr>
          <a:xfrm>
            <a:off x="2194560" y="4059936"/>
            <a:ext cx="1417320" cy="128016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" y="4224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</a:t>
            </a:r>
            <a:endParaRPr lang="en-US" sz="750"/>
          </a:p>
        </p:txBody>
      </p:sp>
      <p:sp>
        <p:nvSpPr>
          <p:cNvPr id="34" name="Shape 32"/>
          <p:cNvSpPr/>
          <p:nvPr/>
        </p:nvSpPr>
        <p:spPr>
          <a:xfrm>
            <a:off x="3328416" y="4242816"/>
            <a:ext cx="1700784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440740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Submission</a:t>
            </a:r>
            <a:endParaRPr lang="en-US" sz="750"/>
          </a:p>
        </p:txBody>
      </p:sp>
      <p:sp>
        <p:nvSpPr>
          <p:cNvPr id="36" name="Shape 34"/>
          <p:cNvSpPr/>
          <p:nvPr/>
        </p:nvSpPr>
        <p:spPr>
          <a:xfrm>
            <a:off x="4745736" y="4425696"/>
            <a:ext cx="1700784" cy="12801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1520" y="45902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Launch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6163056" y="4608576"/>
            <a:ext cx="1700784" cy="128016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194560" y="404164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Y1</a:t>
            </a:r>
            <a:endParaRPr lang="en-US" sz="650"/>
          </a:p>
        </p:txBody>
      </p:sp>
      <p:sp>
        <p:nvSpPr>
          <p:cNvPr id="40" name="Text 38"/>
          <p:cNvSpPr/>
          <p:nvPr/>
        </p:nvSpPr>
        <p:spPr>
          <a:xfrm>
            <a:off x="3611880" y="404164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Y1</a:t>
            </a:r>
            <a:endParaRPr lang="en-US" sz="650"/>
          </a:p>
        </p:txBody>
      </p:sp>
      <p:sp>
        <p:nvSpPr>
          <p:cNvPr id="41" name="Text 39"/>
          <p:cNvSpPr/>
          <p:nvPr/>
        </p:nvSpPr>
        <p:spPr>
          <a:xfrm>
            <a:off x="5029200" y="404164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Y2</a:t>
            </a:r>
            <a:endParaRPr lang="en-US" sz="650"/>
          </a:p>
        </p:txBody>
      </p:sp>
      <p:sp>
        <p:nvSpPr>
          <p:cNvPr id="42" name="Text 40"/>
          <p:cNvSpPr/>
          <p:nvPr/>
        </p:nvSpPr>
        <p:spPr>
          <a:xfrm>
            <a:off x="6446520" y="404164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Y2</a:t>
            </a:r>
            <a:endParaRPr lang="en-US" sz="650"/>
          </a:p>
        </p:txBody>
      </p:sp>
      <p:sp>
        <p:nvSpPr>
          <p:cNvPr id="43" name="Text 41"/>
          <p:cNvSpPr/>
          <p:nvPr/>
        </p:nvSpPr>
        <p:spPr>
          <a:xfrm>
            <a:off x="7863840" y="404164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Y3</a:t>
            </a:r>
            <a:endParaRPr lang="en-US" sz="6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  —  Size, Growth &amp; Customer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2743200" cy="18745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85953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365760" y="1353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>
                <a:solidFill>
                  <a:srgbClr val="00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640080" y="1627632"/>
            <a:ext cx="2194560" cy="0"/>
          </a:xfrm>
          <a:prstGeom prst="line">
            <a:avLst/>
          </a:prstGeom>
          <a:noFill/>
          <a:ln w="6350">
            <a:solidFill>
              <a:srgbClr val="9D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$4.5 B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50292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8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Global surgical site infection management &amp; RPM market (Grand View Research, 2024)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804672"/>
            <a:ext cx="2743200" cy="187452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85953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3291840" y="1353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>
                <a:solidFill>
                  <a:srgbClr val="00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3566160" y="1627632"/>
            <a:ext cx="2194560" cy="0"/>
          </a:xfrm>
          <a:prstGeom prst="line">
            <a:avLst/>
          </a:prstGeom>
          <a:noFill/>
          <a:ln w="6350">
            <a:solidFill>
              <a:srgbClr val="9D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$820 M</a:t>
            </a:r>
            <a:endParaRPr lang="en-US" sz="2000">
              <a:latin typeface="Trebuchet M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2900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800" i="1">
                <a:solidFill>
                  <a:srgbClr val="FFFFFF"/>
                </a:solidFill>
                <a:ea typeface="Calibri"/>
                <a:cs typeface="Calibri"/>
              </a:rPr>
              <a:t>U.S. hospital-based RPM for obstetric patients within Medicaid-covered systems</a:t>
            </a:r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804672"/>
            <a:ext cx="2743200" cy="187452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85953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6217920" y="1353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800"/>
          </a:p>
        </p:txBody>
      </p:sp>
      <p:sp>
        <p:nvSpPr>
          <p:cNvPr id="23" name="Shape 21"/>
          <p:cNvSpPr/>
          <p:nvPr/>
        </p:nvSpPr>
        <p:spPr>
          <a:xfrm>
            <a:off x="6492240" y="1627632"/>
            <a:ext cx="2194560" cy="0"/>
          </a:xfrm>
          <a:prstGeom prst="line">
            <a:avLst/>
          </a:prstGeom>
          <a:noFill/>
          <a:ln w="635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0D1B40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$45 M</a:t>
            </a:r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800" i="1">
                <a:solidFill>
                  <a:srgbClr val="0D1B40"/>
                </a:solidFill>
                <a:latin typeface="Calibri"/>
                <a:ea typeface="Calibri"/>
                <a:cs typeface="Calibri"/>
              </a:rPr>
              <a:t>Initial 3-year target: rural hospital systems in 10 states + academic OB programs</a:t>
            </a:r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283464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2834640"/>
            <a:ext cx="64008" cy="1965960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3444" y="290451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 &amp; KEY MARKET TRENDS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530352" y="3090672"/>
            <a:ext cx="3794760" cy="160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 b="1" u="sng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Primary Customer:</a:t>
            </a:r>
            <a:r>
              <a:rPr lang="en-US" sz="950" b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Hospital system procurement/OB department heads/Telehealth platform integrators</a:t>
            </a:r>
            <a:endParaRPr lang="en-US" sz="95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 b="1" u="sng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Trend #1:</a:t>
            </a: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Surgical site infection management &amp; RPM market growing at 8.73% CAGR (2024-2033)</a:t>
            </a:r>
            <a:endParaRPr lang="en-US" sz="95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 b="1" u="sng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Trend #2: </a:t>
            </a: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CMS expanding RPM reimbursement codes - 2025 &amp; 2026 rule updates lower billing thresholds and add new CPT codes</a:t>
            </a:r>
            <a:endParaRPr lang="en-US" sz="95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 b="1" u="sng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Trend #</a:t>
            </a:r>
            <a:r>
              <a:rPr lang="en-US" sz="950" b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3: </a:t>
            </a: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5.5+ million women in counties with no or limited maternity care access, driving demand for remote obstetric monitoring</a:t>
            </a:r>
          </a:p>
        </p:txBody>
      </p:sp>
      <p:sp>
        <p:nvSpPr>
          <p:cNvPr id="30" name="Shape 28"/>
          <p:cNvSpPr/>
          <p:nvPr/>
        </p:nvSpPr>
        <p:spPr>
          <a:xfrm>
            <a:off x="4800600" y="2834640"/>
            <a:ext cx="3977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2834640"/>
            <a:ext cx="64008" cy="196596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2889099"/>
            <a:ext cx="3858768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b="1" kern="0" spc="200">
                <a:solidFill>
                  <a:srgbClr val="007C91"/>
                </a:solidFill>
                <a:latin typeface="Calibri"/>
                <a:ea typeface="Calibri"/>
                <a:cs typeface="Calibri"/>
              </a:rPr>
              <a:t>MARKET GROWTH RATE - Surgical Site Infection Control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965192" y="3090672"/>
            <a:ext cx="2740445" cy="5348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007C91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8.73%  CAGR</a:t>
            </a:r>
            <a:endParaRPr lang="en-US" sz="2800">
              <a:latin typeface="Trebuchet M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65192" y="3611880"/>
            <a:ext cx="3611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9DB8C4"/>
                </a:solidFill>
                <a:latin typeface="Calibri"/>
                <a:ea typeface="Calibri"/>
                <a:cs typeface="Calibri"/>
              </a:rPr>
              <a:t>Grand View Research, 2024–2033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965192" y="3913632"/>
            <a:ext cx="3566160" cy="0"/>
          </a:xfrm>
          <a:prstGeom prst="line">
            <a:avLst/>
          </a:prstGeom>
          <a:noFill/>
          <a:ln w="9525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65192" y="3959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TO ENTRY</a:t>
            </a:r>
            <a:endParaRPr lang="en-US" sz="700"/>
          </a:p>
        </p:txBody>
      </p:sp>
      <p:sp>
        <p:nvSpPr>
          <p:cNvPr id="37" name="Text 35"/>
          <p:cNvSpPr/>
          <p:nvPr/>
        </p:nvSpPr>
        <p:spPr>
          <a:xfrm>
            <a:off x="4965192" y="4133088"/>
            <a:ext cx="36118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FDA clearance timeline, clinical validation requirements, EHR integration complexity, multi-ethnic dataset sourcing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  —  Competitive Landscape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274320" y="76809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MATRIX  ·  KEY DIFFERENTIATORS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2103120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98755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Solution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2468880" y="987552"/>
            <a:ext cx="1188720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9875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AI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3657600" y="987552"/>
            <a:ext cx="1188720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9875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OB-Specific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4846320" y="987552"/>
            <a:ext cx="1188720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9875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Access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6035040" y="987552"/>
            <a:ext cx="1188720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9875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</a:t>
            </a:r>
            <a:endParaRPr lang="en-US" sz="750"/>
          </a:p>
        </p:txBody>
      </p:sp>
      <p:sp>
        <p:nvSpPr>
          <p:cNvPr id="19" name="Shape 17"/>
          <p:cNvSpPr/>
          <p:nvPr/>
        </p:nvSpPr>
        <p:spPr>
          <a:xfrm>
            <a:off x="7223760" y="987552"/>
            <a:ext cx="1188720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0" y="9875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</a:t>
            </a:r>
            <a:endParaRPr lang="en-US" sz="750"/>
          </a:p>
        </p:txBody>
      </p:sp>
      <p:sp>
        <p:nvSpPr>
          <p:cNvPr id="21" name="Shape 19"/>
          <p:cNvSpPr/>
          <p:nvPr/>
        </p:nvSpPr>
        <p:spPr>
          <a:xfrm>
            <a:off x="365760" y="1298448"/>
            <a:ext cx="2103120" cy="320040"/>
          </a:xfrm>
          <a:prstGeom prst="rect">
            <a:avLst/>
          </a:prstGeom>
          <a:solidFill>
            <a:srgbClr val="0D1B40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468880" y="1298448"/>
            <a:ext cx="1188720" cy="320040"/>
          </a:xfrm>
          <a:prstGeom prst="rect">
            <a:avLst/>
          </a:prstGeom>
          <a:solidFill>
            <a:srgbClr val="0D1B40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0" y="1298448"/>
            <a:ext cx="1188720" cy="320040"/>
          </a:xfrm>
          <a:prstGeom prst="rect">
            <a:avLst/>
          </a:prstGeom>
          <a:solidFill>
            <a:srgbClr val="0D1B40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298448"/>
            <a:ext cx="1188720" cy="320040"/>
          </a:xfrm>
          <a:prstGeom prst="rect">
            <a:avLst/>
          </a:prstGeom>
          <a:solidFill>
            <a:srgbClr val="0D1B40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1298448"/>
            <a:ext cx="1188720" cy="320040"/>
          </a:xfrm>
          <a:prstGeom prst="rect">
            <a:avLst/>
          </a:prstGeom>
          <a:solidFill>
            <a:srgbClr val="0D1B40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23760" y="1298448"/>
            <a:ext cx="1188720" cy="320040"/>
          </a:xfrm>
          <a:prstGeom prst="rect">
            <a:avLst/>
          </a:prstGeom>
          <a:solidFill>
            <a:srgbClr val="0D1B40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12984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00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SurgeSentinel  ★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2468880" y="12984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657600" y="12984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846320" y="12984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035040" y="12984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7223760" y="12984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365760" y="1645920"/>
            <a:ext cx="21031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468880" y="1645920"/>
            <a:ext cx="11887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0" y="1645920"/>
            <a:ext cx="11887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1645920"/>
            <a:ext cx="11887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5040" y="1645920"/>
            <a:ext cx="11887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223760" y="1645920"/>
            <a:ext cx="11887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1654700"/>
            <a:ext cx="19659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err="1">
                <a:solidFill>
                  <a:srgbClr val="0D1B40"/>
                </a:solidFill>
                <a:latin typeface="Calibri"/>
                <a:ea typeface="Calibri"/>
                <a:cs typeface="Calibri"/>
              </a:rPr>
              <a:t>EKare</a:t>
            </a:r>
            <a:endParaRPr lang="en-US" sz="900">
              <a:solidFill>
                <a:srgbClr val="0D1B40"/>
              </a:solidFill>
              <a:ea typeface="Calibri"/>
              <a:cs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468880" y="1645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3657600" y="1645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4846320" y="1645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603504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7C91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223760" y="1645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365760" y="1993392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468880" y="1993392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657600" y="1993392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846320" y="1993392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035040" y="1993392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223760" y="1993392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2017263"/>
            <a:ext cx="19659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0D1B40"/>
                </a:solidFill>
                <a:latin typeface="Calibri"/>
                <a:ea typeface="Calibri"/>
                <a:cs typeface="Calibri"/>
              </a:rPr>
              <a:t>Mayo Clinic AI Tool </a:t>
            </a:r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468880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7C91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000" b="1">
              <a:solidFill>
                <a:srgbClr val="B00020"/>
              </a:solidFill>
              <a:ea typeface="Calibri"/>
              <a:cs typeface="Calibri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657600" y="19933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4846320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Partial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035040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B00020"/>
                </a:solidFill>
                <a:latin typeface="Calibri"/>
                <a:ea typeface="Calibri"/>
                <a:cs typeface="Calibri"/>
              </a:rPr>
              <a:t>✗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000" b="1">
              <a:solidFill>
                <a:srgbClr val="007C91"/>
              </a:solidFill>
              <a:ea typeface="Calibri"/>
              <a:cs typeface="Calibri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223760" y="19933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365760" y="2340864"/>
            <a:ext cx="21031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468880" y="2340864"/>
            <a:ext cx="11887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657600" y="2340864"/>
            <a:ext cx="11887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846320" y="2340864"/>
            <a:ext cx="11887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035040" y="2340864"/>
            <a:ext cx="11887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223760" y="2340864"/>
            <a:ext cx="1188720" cy="320040"/>
          </a:xfrm>
          <a:prstGeom prst="rect">
            <a:avLst/>
          </a:prstGeom>
          <a:solidFill>
            <a:srgbClr val="EAF4F7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65760" y="2350736"/>
            <a:ext cx="19659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0D1B40"/>
                </a:solidFill>
                <a:latin typeface="Calibri"/>
                <a:ea typeface="Calibri"/>
                <a:cs typeface="Calibri"/>
              </a:rPr>
              <a:t>Vohra Wound Care</a:t>
            </a:r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468880" y="23408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/>
          </a:p>
        </p:txBody>
      </p:sp>
      <p:sp>
        <p:nvSpPr>
          <p:cNvPr id="65" name="Text 63"/>
          <p:cNvSpPr/>
          <p:nvPr/>
        </p:nvSpPr>
        <p:spPr>
          <a:xfrm>
            <a:off x="3657600" y="23408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66" name="Text 64"/>
          <p:cNvSpPr/>
          <p:nvPr/>
        </p:nvSpPr>
        <p:spPr>
          <a:xfrm>
            <a:off x="4846320" y="23408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67" name="Text 65"/>
          <p:cNvSpPr/>
          <p:nvPr/>
        </p:nvSpPr>
        <p:spPr>
          <a:xfrm>
            <a:off x="6035040" y="2340864"/>
            <a:ext cx="1188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7C91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7223760" y="2340864"/>
            <a:ext cx="1188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>
                <a:solidFill>
                  <a:srgbClr val="64748B"/>
                </a:solidFill>
                <a:ea typeface="Calibri"/>
                <a:cs typeface="Calibri"/>
              </a:rPr>
              <a:t>Partial</a:t>
            </a:r>
            <a:endParaRPr lang="en-US" sz="10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65760" y="2688336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468880" y="2688336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657600" y="2688336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846320" y="2688336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035040" y="2688336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223760" y="2688336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65760" y="2698208"/>
            <a:ext cx="2205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0D1B40"/>
                </a:solidFill>
                <a:latin typeface="Calibri"/>
                <a:ea typeface="Calibri"/>
                <a:cs typeface="Calibri"/>
              </a:rPr>
              <a:t>Current Standard: Manual Wound Checks</a:t>
            </a:r>
            <a:endParaRPr lang="en-US" sz="9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468880" y="268833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77" name="Text 75"/>
          <p:cNvSpPr/>
          <p:nvPr/>
        </p:nvSpPr>
        <p:spPr>
          <a:xfrm>
            <a:off x="3657600" y="268833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78" name="Text 76"/>
          <p:cNvSpPr/>
          <p:nvPr/>
        </p:nvSpPr>
        <p:spPr>
          <a:xfrm>
            <a:off x="4846320" y="268833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79" name="Text 77"/>
          <p:cNvSpPr/>
          <p:nvPr/>
        </p:nvSpPr>
        <p:spPr>
          <a:xfrm>
            <a:off x="6035040" y="268833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80" name="Text 78"/>
          <p:cNvSpPr/>
          <p:nvPr/>
        </p:nvSpPr>
        <p:spPr>
          <a:xfrm>
            <a:off x="7223760" y="268833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81" name="Shape 79"/>
          <p:cNvSpPr/>
          <p:nvPr/>
        </p:nvSpPr>
        <p:spPr>
          <a:xfrm>
            <a:off x="365760" y="31546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65760" y="3154680"/>
            <a:ext cx="64008" cy="1691640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02920" y="32651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DIFFERENTIATE</a:t>
            </a:r>
            <a:endParaRPr lang="en-US" sz="900"/>
          </a:p>
        </p:txBody>
      </p:sp>
      <p:sp>
        <p:nvSpPr>
          <p:cNvPr id="84" name="Text 82"/>
          <p:cNvSpPr/>
          <p:nvPr/>
        </p:nvSpPr>
        <p:spPr>
          <a:xfrm>
            <a:off x="530352" y="3401568"/>
            <a:ext cx="3794760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Only end-to-end solution designed for the OB surgical pathway</a:t>
            </a:r>
            <a:endParaRPr lang="en-US" sz="95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Personalized risk model incorporating prenatal clinical history (GDM, BMI, HTN, surgery duration) not just generic scoring</a:t>
            </a:r>
            <a:endParaRPr lang="en-US" sz="95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Asynchronous surgeon workflow built for rural care where travel is the barrier</a:t>
            </a:r>
            <a:endParaRPr lang="en-US" sz="95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4800600" y="315468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4800600" y="3154680"/>
            <a:ext cx="64008" cy="169164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957100" y="32651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AGAINST 2ND-GEN PRODUCTS</a:t>
            </a:r>
            <a:endParaRPr lang="en-US" sz="900"/>
          </a:p>
        </p:txBody>
      </p:sp>
      <p:sp>
        <p:nvSpPr>
          <p:cNvPr id="88" name="Text 86"/>
          <p:cNvSpPr/>
          <p:nvPr/>
        </p:nvSpPr>
        <p:spPr>
          <a:xfrm>
            <a:off x="4965192" y="3401568"/>
            <a:ext cx="3611880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Utility patent on core algorithm filed prior to public disclosure</a:t>
            </a:r>
          </a:p>
          <a:p>
            <a:pPr marL="342900" indent="-34290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/>
                <a:cs typeface="Calibri" panose="020F0502020204030204"/>
              </a:rPr>
              <a:t>Multi-ethnic proprietary dataset requires years + clinical partnerships to replicate</a:t>
            </a:r>
          </a:p>
          <a:p>
            <a:pPr marL="342900" indent="-34290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/>
                <a:cs typeface="Calibri" panose="020F0502020204030204"/>
              </a:rPr>
              <a:t>FDA SaMD clearance + EHR integrations create durable switching costs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Pathway to Market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786384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786384"/>
            <a:ext cx="4160520" cy="3200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78638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PATHWAY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475488" y="1152144"/>
            <a:ext cx="3931920" cy="160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SzPct val="100000"/>
              <a:buFont typeface="Wingdings" pitchFamily="2" charset="2"/>
              <a:buChar char="v"/>
            </a:pP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FDA Class II SaMD - 510(k) preferred; De Novo if no predicate found</a:t>
            </a: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SzPct val="100000"/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Predicate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</a:t>
            </a:r>
            <a:r>
              <a:rPr lang="en-US" sz="85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eKare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85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inSight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or Mayo Clinic SSI AI model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Required data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Algorithm sensitivity/specificity, skin-tone bias analysis, prospective clinical validation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Status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FDA Pre-Submission (Q-Sub) meeting recommended before submission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Risk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Novel OB-specific AI may lack predicate → Mitigation: De Novo + multi-site evidence package with Predetermined Change Control Plan (PCCP)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786384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786384"/>
            <a:ext cx="4160520" cy="32004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78638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REIMBURSEMENT STRATEGY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864608" y="1133856"/>
            <a:ext cx="3931920" cy="160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SzPct val="100000"/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CPT codes: 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99453 (~$22), 99454 (~$47), 99457 (~$52), 99458 (add-on)</a:t>
            </a:r>
          </a:p>
          <a:p>
            <a:pPr marL="171450" indent="-171450">
              <a:buSzPct val="100000"/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Coverage: 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Medicare Part B (80%); NY Medicaid covers 99453 &amp; 99454 (HD modifier) for maternity RPM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Likelihood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Moderate-High - existing RPM codes applicable; OB-specific Medicaid precedent established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Risk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Payer reluctance for novel AI → Mitigation: Health-economic dossier (~$3.3B annual SSI burden)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94436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944368"/>
            <a:ext cx="416052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9443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475488" y="3291840"/>
            <a:ext cx="3931920" cy="160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SzPct val="100000"/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Primary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SaaS subscription (per monitored patient/month)</a:t>
            </a: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SzPct val="100000"/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Revenue streams: 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Per-use clinical consultation fees; de-identified dataset licensing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GTM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Direct to rural hospital systems &amp; Medicaid ACOs → expand via RPM platforms &amp; academic OB programs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94436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944368"/>
            <a:ext cx="4160520" cy="320040"/>
          </a:xfrm>
          <a:prstGeom prst="rect">
            <a:avLst/>
          </a:prstGeom>
          <a:solidFill>
            <a:srgbClr val="2E5C6E"/>
          </a:solidFill>
          <a:ln w="12700">
            <a:solidFill>
              <a:srgbClr val="2E5C6E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54880" y="2944368"/>
            <a:ext cx="41605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PROPOSED CLINICAL STUDIES</a:t>
            </a:r>
            <a:endParaRPr lang="en-US" sz="950">
              <a:latin typeface="Trebuchet M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64608" y="3318421"/>
            <a:ext cx="3931920" cy="160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SzPct val="100000"/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Pilot (Study 1): 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N = 50-75, single academic OB site; endpoint: algorithm sensitivity vs. physical exam at 7 &amp; 14 days post-C-section</a:t>
            </a:r>
          </a:p>
          <a:p>
            <a:pPr marL="171450" indent="-171450">
              <a:buSzPct val="100000"/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Pivotal (Study 2)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N = 300+, 3-5 sites; endpoints: SSI detection rate, time-to-diagnosis, 30-day readmission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Timeline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12 months enrollment + 6 months follow-up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Sites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1 urban academic OB center + 2 rural community hospitals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endParaRPr lang="en-US" sz="85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850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PI</a:t>
            </a:r>
            <a:r>
              <a:rPr lang="en-US" sz="8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: OB/Gyn or MFM physician (TBD, rural health affiliation preferred)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44568" y="786384"/>
            <a:ext cx="182880" cy="4133088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 Team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005840"/>
            <a:ext cx="685800" cy="685800"/>
          </a:xfrm>
          <a:prstGeom prst="ellipse">
            <a:avLst/>
          </a:prstGeom>
          <a:solidFill>
            <a:srgbClr val="EAF4F7"/>
          </a:solidFill>
          <a:ln w="1270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005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Photo ]</a:t>
            </a:r>
            <a:endParaRPr lang="en-US" sz="650"/>
          </a:p>
        </p:txBody>
      </p:sp>
      <p:sp>
        <p:nvSpPr>
          <p:cNvPr id="11" name="Text 9"/>
          <p:cNvSpPr/>
          <p:nvPr/>
        </p:nvSpPr>
        <p:spPr>
          <a:xfrm>
            <a:off x="1280160" y="891146"/>
            <a:ext cx="30632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D1B40"/>
                </a:solidFill>
                <a:latin typeface="Trebuchet MS"/>
              </a:rPr>
              <a:t>Anjali Katta</a:t>
            </a:r>
          </a:p>
        </p:txBody>
      </p:sp>
      <p:sp>
        <p:nvSpPr>
          <p:cNvPr id="12" name="Text 10"/>
          <p:cNvSpPr/>
          <p:nvPr/>
        </p:nvSpPr>
        <p:spPr>
          <a:xfrm>
            <a:off x="1280160" y="1118477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1280159" y="1298448"/>
            <a:ext cx="3087909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850">
                <a:solidFill>
                  <a:srgbClr val="2E5C6E"/>
                </a:solidFill>
                <a:ea typeface="+mn-lt"/>
                <a:cs typeface="+mn-lt"/>
              </a:rPr>
              <a:t>Biomedical Engineering </a:t>
            </a:r>
            <a:r>
              <a:rPr lang="en-US" sz="850" err="1">
                <a:solidFill>
                  <a:srgbClr val="2E5C6E"/>
                </a:solidFill>
                <a:ea typeface="+mn-lt"/>
                <a:cs typeface="+mn-lt"/>
              </a:rPr>
              <a:t>M.Eng</a:t>
            </a:r>
            <a:r>
              <a:rPr lang="en-US" sz="850">
                <a:solidFill>
                  <a:srgbClr val="2E5C6E"/>
                </a:solidFill>
                <a:ea typeface="+mn-lt"/>
                <a:cs typeface="+mn-lt"/>
              </a:rPr>
              <a:t> student with clinical experience as a nurse assistant and research in neural engineering, including AI-driven tools for autonomic pain assessment.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8046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37760" y="1005840"/>
            <a:ext cx="685800" cy="685800"/>
          </a:xfrm>
          <a:prstGeom prst="ellipse">
            <a:avLst/>
          </a:prstGeom>
          <a:solidFill>
            <a:srgbClr val="EAF4F7"/>
          </a:solidFill>
          <a:ln w="1270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650" i="1">
              <a:solidFill>
                <a:srgbClr val="9DB8C4"/>
              </a:solidFill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15000" y="885514"/>
            <a:ext cx="30632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D1B40"/>
                </a:solidFill>
                <a:latin typeface="Trebuchet MS"/>
              </a:rPr>
              <a:t>Sarah </a:t>
            </a:r>
            <a:r>
              <a:rPr lang="en-US" sz="1300" b="1" err="1">
                <a:solidFill>
                  <a:srgbClr val="0D1B40"/>
                </a:solidFill>
                <a:latin typeface="Trebuchet MS"/>
              </a:rPr>
              <a:t>Satani</a:t>
            </a:r>
            <a:endParaRPr lang="en-US" sz="1300" b="1">
              <a:solidFill>
                <a:srgbClr val="0D1B40"/>
              </a:solidFill>
              <a:latin typeface="Trebuchet M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27381" y="1110437"/>
            <a:ext cx="3063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b="1">
                <a:solidFill>
                  <a:srgbClr val="007C91"/>
                </a:solidFill>
                <a:latin typeface="Calibri"/>
                <a:ea typeface="Calibri"/>
                <a:cs typeface="Calibri"/>
              </a:rPr>
              <a:t>Chief Operations Officer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739109" y="1295460"/>
            <a:ext cx="3167147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850">
                <a:solidFill>
                  <a:srgbClr val="2E5C6E"/>
                </a:solidFill>
                <a:ea typeface="+mn-lt"/>
                <a:cs typeface="+mn-lt"/>
              </a:rPr>
              <a:t>Health Administration graduate student with hands-on experience in global health operations at Cleveland Clinic and a course she designed on AI integration in healthcare administration.</a:t>
            </a:r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148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2350008"/>
            <a:ext cx="685800" cy="685800"/>
          </a:xfrm>
          <a:prstGeom prst="ellipse">
            <a:avLst/>
          </a:prstGeom>
          <a:solidFill>
            <a:srgbClr val="EAF4F7"/>
          </a:solidFill>
          <a:ln w="1270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350008"/>
            <a:ext cx="6858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650" i="1">
              <a:solidFill>
                <a:srgbClr val="9DB8C4"/>
              </a:solidFill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80160" y="2254840"/>
            <a:ext cx="30632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D1B40"/>
                </a:solidFill>
                <a:latin typeface="Trebuchet MS"/>
              </a:rPr>
              <a:t>Yashvi Gupta</a:t>
            </a:r>
          </a:p>
        </p:txBody>
      </p:sp>
      <p:sp>
        <p:nvSpPr>
          <p:cNvPr id="24" name="Text 22"/>
          <p:cNvSpPr/>
          <p:nvPr/>
        </p:nvSpPr>
        <p:spPr>
          <a:xfrm>
            <a:off x="1292493" y="248199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Medical Officer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1304826" y="2660877"/>
            <a:ext cx="315468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850">
                <a:solidFill>
                  <a:srgbClr val="2E5C6E"/>
                </a:solidFill>
                <a:ea typeface="+mn-lt"/>
                <a:cs typeface="+mn-lt"/>
              </a:rPr>
              <a:t>Biomedical Engineering </a:t>
            </a:r>
            <a:r>
              <a:rPr lang="en-US" sz="850" err="1">
                <a:solidFill>
                  <a:srgbClr val="2E5C6E"/>
                </a:solidFill>
                <a:ea typeface="+mn-lt"/>
                <a:cs typeface="+mn-lt"/>
              </a:rPr>
              <a:t>M.Eng</a:t>
            </a:r>
            <a:r>
              <a:rPr lang="en-US" sz="850">
                <a:solidFill>
                  <a:srgbClr val="2E5C6E"/>
                </a:solidFill>
                <a:ea typeface="+mn-lt"/>
                <a:cs typeface="+mn-lt"/>
              </a:rPr>
              <a:t> student with clinical tool-building experience spanning injectable delivery systems and AI-driven medical waste management platforms.</a:t>
            </a:r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2148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37760" y="2350008"/>
            <a:ext cx="685800" cy="685800"/>
          </a:xfrm>
          <a:prstGeom prst="ellipse">
            <a:avLst/>
          </a:prstGeom>
          <a:solidFill>
            <a:srgbClr val="EAF4F7"/>
          </a:solidFill>
          <a:ln w="12700">
            <a:solidFill>
              <a:srgbClr val="D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23500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Photo ]</a:t>
            </a:r>
            <a:endParaRPr lang="en-US" sz="650"/>
          </a:p>
        </p:txBody>
      </p:sp>
      <p:sp>
        <p:nvSpPr>
          <p:cNvPr id="29" name="Text 27"/>
          <p:cNvSpPr/>
          <p:nvPr/>
        </p:nvSpPr>
        <p:spPr>
          <a:xfrm>
            <a:off x="5715000" y="2220992"/>
            <a:ext cx="30632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D1B40"/>
                </a:solidFill>
                <a:latin typeface="Trebuchet MS"/>
              </a:rPr>
              <a:t>Srinjoy Chatterjee</a:t>
            </a:r>
          </a:p>
        </p:txBody>
      </p:sp>
      <p:sp>
        <p:nvSpPr>
          <p:cNvPr id="30" name="Text 28"/>
          <p:cNvSpPr/>
          <p:nvPr/>
        </p:nvSpPr>
        <p:spPr>
          <a:xfrm>
            <a:off x="5715000" y="2464818"/>
            <a:ext cx="3063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 b="1">
                <a:solidFill>
                  <a:srgbClr val="007C91"/>
                </a:solidFill>
                <a:latin typeface="Calibri"/>
                <a:ea typeface="Calibri"/>
                <a:cs typeface="Calibri"/>
              </a:rPr>
              <a:t>Chief Technology Officer</a:t>
            </a:r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51576" y="2641213"/>
            <a:ext cx="315468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850">
                <a:solidFill>
                  <a:srgbClr val="2E5C6E"/>
                </a:solidFill>
                <a:ea typeface="+mn-lt"/>
                <a:cs typeface="+mn-lt"/>
              </a:rPr>
              <a:t>BME M.S. graduate with systems engineering expertise applied to medical technology, including an AI-powered application for ICU bed management.</a:t>
            </a:r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401568"/>
            <a:ext cx="8412480" cy="292608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4015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 ·  BOARD MEMBERS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365760" y="372160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" y="3721608"/>
            <a:ext cx="64008" cy="109728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0352" y="3767328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100" b="1">
              <a:solidFill>
                <a:srgbClr val="0D1B40"/>
              </a:solidFill>
              <a:latin typeface="Trebuchet M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4913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 b="1">
                <a:solidFill>
                  <a:srgbClr val="007C91"/>
                </a:solidFill>
                <a:latin typeface="Calibri"/>
                <a:ea typeface="Calibri"/>
                <a:cs typeface="Calibri"/>
              </a:rPr>
              <a:t>OB/GYN | Evergreen Surgery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84913" y="4245575"/>
            <a:ext cx="246888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700" i="1">
                <a:solidFill>
                  <a:srgbClr val="2E5C6E"/>
                </a:solidFill>
                <a:ea typeface="+mn-lt"/>
                <a:cs typeface="+mn-lt"/>
              </a:rPr>
              <a:t>Contributed firsthand obstetric and surgical expertise to ground </a:t>
            </a:r>
            <a:r>
              <a:rPr lang="en-US" sz="700" i="1" err="1">
                <a:solidFill>
                  <a:srgbClr val="2E5C6E"/>
                </a:solidFill>
                <a:ea typeface="+mn-lt"/>
                <a:cs typeface="+mn-lt"/>
              </a:rPr>
              <a:t>SurgeSentinel's</a:t>
            </a:r>
            <a:r>
              <a:rPr lang="en-US" sz="700" i="1">
                <a:solidFill>
                  <a:srgbClr val="2E5C6E"/>
                </a:solidFill>
                <a:ea typeface="+mn-lt"/>
                <a:cs typeface="+mn-lt"/>
              </a:rPr>
              <a:t> clinical design in real-world C-section care, shaping wound assessment protocols and informing the clinical validation strategy.</a:t>
            </a:r>
          </a:p>
        </p:txBody>
      </p:sp>
      <p:sp>
        <p:nvSpPr>
          <p:cNvPr id="39" name="Shape 37"/>
          <p:cNvSpPr/>
          <p:nvPr/>
        </p:nvSpPr>
        <p:spPr>
          <a:xfrm>
            <a:off x="3264408" y="372160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64408" y="3721608"/>
            <a:ext cx="64008" cy="109728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60462" y="3776472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>
                <a:solidFill>
                  <a:srgbClr val="0D1B40"/>
                </a:solidFill>
                <a:latin typeface="Trebuchet MS"/>
              </a:rPr>
              <a:t>Dr. Newton De Faria </a:t>
            </a:r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60462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 b="1">
                <a:solidFill>
                  <a:srgbClr val="007C91"/>
                </a:solidFill>
                <a:ea typeface="Calibri"/>
                <a:cs typeface="Calibri"/>
              </a:rPr>
              <a:t>Director of Biomedical Engineering | Cornell</a:t>
            </a:r>
          </a:p>
        </p:txBody>
      </p:sp>
      <p:sp>
        <p:nvSpPr>
          <p:cNvPr id="43" name="Text 41"/>
          <p:cNvSpPr/>
          <p:nvPr/>
        </p:nvSpPr>
        <p:spPr>
          <a:xfrm>
            <a:off x="3373855" y="4246947"/>
            <a:ext cx="2634314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700" i="1">
                <a:solidFill>
                  <a:srgbClr val="2E5C6E"/>
                </a:solidFill>
                <a:ea typeface="Calibri"/>
                <a:cs typeface="Calibri"/>
              </a:rPr>
              <a:t>Contributed</a:t>
            </a:r>
            <a:r>
              <a:rPr lang="en-US" sz="700" i="1">
                <a:solidFill>
                  <a:srgbClr val="2E5C6E"/>
                </a:solidFill>
                <a:ea typeface="+mn-lt"/>
                <a:cs typeface="+mn-lt"/>
              </a:rPr>
              <a:t> two decades of industrial leadership and biomedical expertise to guide </a:t>
            </a:r>
            <a:r>
              <a:rPr lang="en-US" sz="700" i="1" err="1">
                <a:solidFill>
                  <a:srgbClr val="2E5C6E"/>
                </a:solidFill>
                <a:ea typeface="+mn-lt"/>
                <a:cs typeface="+mn-lt"/>
              </a:rPr>
              <a:t>SurgeSentinel’s</a:t>
            </a:r>
            <a:r>
              <a:rPr lang="en-US" sz="700" i="1">
                <a:solidFill>
                  <a:srgbClr val="2E5C6E"/>
                </a:solidFill>
                <a:ea typeface="+mn-lt"/>
                <a:cs typeface="+mn-lt"/>
              </a:rPr>
              <a:t> clinical strategy and regulatory pathway as the project transitions from a technical prototype toward clinical validation and future market integration.</a:t>
            </a:r>
            <a:endParaRPr lang="en-US" sz="700" i="1">
              <a:solidFill>
                <a:srgbClr val="2E5C6E"/>
              </a:solidFill>
              <a:ea typeface="Calibri"/>
              <a:cs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163056" y="372160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63056" y="3721608"/>
            <a:ext cx="64008" cy="109728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63640" y="3778939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>
                <a:solidFill>
                  <a:srgbClr val="0D1B40"/>
                </a:solidFill>
                <a:latin typeface="Trebuchet MS"/>
              </a:rPr>
              <a:t>Dr. Nick Fabrizio</a:t>
            </a:r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63640" y="4027082"/>
            <a:ext cx="246888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 b="1">
                <a:solidFill>
                  <a:srgbClr val="007C91"/>
                </a:solidFill>
                <a:latin typeface="Calibri"/>
                <a:ea typeface="Calibri"/>
                <a:cs typeface="Calibri"/>
              </a:rPr>
              <a:t>Retired Health System Executive/Consultant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263640" y="4259404"/>
            <a:ext cx="246888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700" i="1">
                <a:solidFill>
                  <a:srgbClr val="2E5C6E"/>
                </a:solidFill>
                <a:ea typeface="Calibri"/>
                <a:cs typeface="Calibri"/>
              </a:rPr>
              <a:t>Contributed decades of health system leadership to guide </a:t>
            </a:r>
            <a:r>
              <a:rPr lang="en-US" sz="700" i="1" err="1">
                <a:solidFill>
                  <a:srgbClr val="2E5C6E"/>
                </a:solidFill>
                <a:ea typeface="Calibri"/>
                <a:cs typeface="Calibri"/>
              </a:rPr>
              <a:t>SurgeSentinel's</a:t>
            </a:r>
            <a:r>
              <a:rPr lang="en-US" sz="700" i="1">
                <a:solidFill>
                  <a:srgbClr val="2E5C6E"/>
                </a:solidFill>
                <a:ea typeface="Calibri"/>
                <a:cs typeface="Calibri"/>
              </a:rPr>
              <a:t> go-to-market approach, reimbursement strategy, and pathway toward adoption within hospital networks and Medicaid ecosystems.</a:t>
            </a:r>
          </a:p>
        </p:txBody>
      </p:sp>
      <p:pic>
        <p:nvPicPr>
          <p:cNvPr id="49" name="Picture 48" descr="Srinjoy Chatterjee - Cornell University | WayUp">
            <a:extLst>
              <a:ext uri="{FF2B5EF4-FFF2-40B4-BE49-F238E27FC236}">
                <a16:creationId xmlns:a16="http://schemas.microsoft.com/office/drawing/2014/main" id="{2042F31C-6200-6ECD-85E6-5FEBC52EFA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" t="-7012" r="338" b="1512"/>
          <a:stretch>
            <a:fillRect/>
          </a:stretch>
        </p:blipFill>
        <p:spPr>
          <a:xfrm>
            <a:off x="4856211" y="2211131"/>
            <a:ext cx="905821" cy="964989"/>
          </a:xfrm>
          <a:prstGeom prst="rect">
            <a:avLst/>
          </a:prstGeom>
        </p:spPr>
      </p:pic>
      <p:pic>
        <p:nvPicPr>
          <p:cNvPr id="52" name="Picture 51" descr="A person in a suit&#10;&#10;AI-generated content may be incorrect.">
            <a:extLst>
              <a:ext uri="{FF2B5EF4-FFF2-40B4-BE49-F238E27FC236}">
                <a16:creationId xmlns:a16="http://schemas.microsoft.com/office/drawing/2014/main" id="{D4B63B30-411B-C2F6-2B3B-4224F1621B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83" t="1065" r="21664" b="14367"/>
          <a:stretch>
            <a:fillRect/>
          </a:stretch>
        </p:blipFill>
        <p:spPr>
          <a:xfrm>
            <a:off x="4864981" y="910045"/>
            <a:ext cx="885856" cy="895336"/>
          </a:xfrm>
          <a:prstGeom prst="ellipse">
            <a:avLst/>
          </a:prstGeom>
        </p:spPr>
      </p:pic>
      <p:pic>
        <p:nvPicPr>
          <p:cNvPr id="55" name="Picture 54" descr="A person wearing a graduation sash&#10;&#10;AI-generated content may be incorrect.">
            <a:extLst>
              <a:ext uri="{FF2B5EF4-FFF2-40B4-BE49-F238E27FC236}">
                <a16:creationId xmlns:a16="http://schemas.microsoft.com/office/drawing/2014/main" id="{9CDD8955-66C1-E95A-A244-A2C001EC7F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119" t="7562" r="21627" b="15068"/>
          <a:stretch>
            <a:fillRect/>
          </a:stretch>
        </p:blipFill>
        <p:spPr>
          <a:xfrm>
            <a:off x="428087" y="951672"/>
            <a:ext cx="855703" cy="848047"/>
          </a:xfrm>
          <a:prstGeom prst="ellipse">
            <a:avLst/>
          </a:prstGeom>
        </p:spPr>
      </p:pic>
      <p:pic>
        <p:nvPicPr>
          <p:cNvPr id="57" name="Picture 56" descr="A person wearing a graduation outfit&#10;&#10;AI-generated content may be incorrect.">
            <a:extLst>
              <a:ext uri="{FF2B5EF4-FFF2-40B4-BE49-F238E27FC236}">
                <a16:creationId xmlns:a16="http://schemas.microsoft.com/office/drawing/2014/main" id="{636C71EE-FB5A-52E6-5C62-E66C6AEF5F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909" t="24656" r="33474" b="51030"/>
          <a:stretch>
            <a:fillRect/>
          </a:stretch>
        </p:blipFill>
        <p:spPr>
          <a:xfrm>
            <a:off x="434185" y="2307253"/>
            <a:ext cx="891615" cy="872767"/>
          </a:xfrm>
          <a:prstGeom prst="ellipse">
            <a:avLst/>
          </a:prstGeom>
        </p:spPr>
      </p:pic>
      <p:sp>
        <p:nvSpPr>
          <p:cNvPr id="50" name="Text 44">
            <a:extLst>
              <a:ext uri="{FF2B5EF4-FFF2-40B4-BE49-F238E27FC236}">
                <a16:creationId xmlns:a16="http://schemas.microsoft.com/office/drawing/2014/main" id="{B7E17137-67F1-4492-AE93-D9A4DA3937DA}"/>
              </a:ext>
            </a:extLst>
          </p:cNvPr>
          <p:cNvSpPr/>
          <p:nvPr/>
        </p:nvSpPr>
        <p:spPr>
          <a:xfrm>
            <a:off x="484913" y="3781004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>
                <a:solidFill>
                  <a:srgbClr val="0D1B40"/>
                </a:solidFill>
                <a:latin typeface="Trebuchet MS"/>
              </a:rPr>
              <a:t>Dr. Daulat </a:t>
            </a:r>
            <a:r>
              <a:rPr lang="en-US" sz="1100" b="1" err="1">
                <a:solidFill>
                  <a:srgbClr val="0D1B40"/>
                </a:solidFill>
                <a:latin typeface="Trebuchet MS"/>
              </a:rPr>
              <a:t>Reshamwalla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91840" y="0"/>
            <a:ext cx="182880" cy="5143500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8284" y="3603912"/>
            <a:ext cx="3048531" cy="1367737"/>
          </a:xfrm>
          <a:prstGeom prst="rect">
            <a:avLst/>
          </a:prstGeom>
          <a:solidFill>
            <a:srgbClr val="12324F"/>
          </a:solidFill>
          <a:ln w="12700">
            <a:solidFill>
              <a:srgbClr val="12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3662573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00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750"/>
          </a:p>
        </p:txBody>
      </p:sp>
      <p:sp>
        <p:nvSpPr>
          <p:cNvPr id="8" name="Text 5"/>
          <p:cNvSpPr/>
          <p:nvPr/>
        </p:nvSpPr>
        <p:spPr>
          <a:xfrm>
            <a:off x="320040" y="3979044"/>
            <a:ext cx="283464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[ak2839@cornell.edu]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320040" y="4157512"/>
            <a:ext cx="283464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425-698-9544</a:t>
            </a:r>
          </a:p>
        </p:txBody>
      </p:sp>
      <p:sp>
        <p:nvSpPr>
          <p:cNvPr id="10" name="Text 7"/>
          <p:cNvSpPr/>
          <p:nvPr/>
        </p:nvSpPr>
        <p:spPr>
          <a:xfrm>
            <a:off x="214764" y="4508794"/>
            <a:ext cx="283464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i="1">
                <a:solidFill>
                  <a:srgbClr val="9DB8C4"/>
                </a:solidFill>
                <a:ea typeface="Calibri"/>
                <a:cs typeface="Calibri"/>
              </a:rPr>
              <a:t>SurgeSentinel | Cornell University </a:t>
            </a:r>
          </a:p>
        </p:txBody>
      </p:sp>
      <p:sp>
        <p:nvSpPr>
          <p:cNvPr id="11" name="Text 8"/>
          <p:cNvSpPr/>
          <p:nvPr/>
        </p:nvSpPr>
        <p:spPr>
          <a:xfrm>
            <a:off x="3749040" y="411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400"/>
          </a:p>
        </p:txBody>
      </p:sp>
      <p:sp>
        <p:nvSpPr>
          <p:cNvPr id="12" name="Shape 9"/>
          <p:cNvSpPr/>
          <p:nvPr/>
        </p:nvSpPr>
        <p:spPr>
          <a:xfrm>
            <a:off x="3749040" y="932688"/>
            <a:ext cx="5029200" cy="0"/>
          </a:xfrm>
          <a:prstGeom prst="line">
            <a:avLst/>
          </a:prstGeom>
          <a:noFill/>
          <a:ln w="1905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749040" y="1097280"/>
            <a:ext cx="347472" cy="347472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749040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4206240" y="1081638"/>
            <a:ext cx="4807618" cy="4271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Up to 15% of C-sections face complications, the world's most frequent major surgery.</a:t>
            </a:r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749040" y="1847088"/>
            <a:ext cx="347472" cy="347472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749040" y="1847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/>
          </a:p>
        </p:txBody>
      </p:sp>
      <p:sp>
        <p:nvSpPr>
          <p:cNvPr id="18" name="Text 15"/>
          <p:cNvSpPr/>
          <p:nvPr/>
        </p:nvSpPr>
        <p:spPr>
          <a:xfrm>
            <a:off x="4206240" y="1831446"/>
            <a:ext cx="4807618" cy="4271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AI surveillance during the 14-day post-op window closes the dangerous "black box" period during recovery.</a:t>
            </a:r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749040" y="2596896"/>
            <a:ext cx="347472" cy="347472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74904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/>
          </a:p>
        </p:txBody>
      </p:sp>
      <p:sp>
        <p:nvSpPr>
          <p:cNvPr id="21" name="Text 18"/>
          <p:cNvSpPr/>
          <p:nvPr/>
        </p:nvSpPr>
        <p:spPr>
          <a:xfrm>
            <a:off x="420624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$45 million market addressing the need to reduce</a:t>
            </a: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 costly hospital readmissions and travel burdens for patients in rural maternity deserts. </a:t>
            </a:r>
            <a:endParaRPr lang="en-US" sz="10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749040" y="3346704"/>
            <a:ext cx="347472" cy="347472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749040" y="3346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/>
          </a:p>
        </p:txBody>
      </p:sp>
      <p:sp>
        <p:nvSpPr>
          <p:cNvPr id="24" name="Text 21"/>
          <p:cNvSpPr/>
          <p:nvPr/>
        </p:nvSpPr>
        <p:spPr>
          <a:xfrm>
            <a:off x="4206240" y="3300984"/>
            <a:ext cx="45720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Strong IP: proprietary risk-weighted algorithms and multi-ethnic datasets deliver non-biased, personalized diagnostic triage.</a:t>
            </a:r>
            <a:endParaRPr lang="en-US" sz="1000" i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749040" y="4096512"/>
            <a:ext cx="347472" cy="347472"/>
          </a:xfrm>
          <a:prstGeom prst="ellipse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749040" y="4096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/>
          </a:p>
        </p:txBody>
      </p:sp>
      <p:sp>
        <p:nvSpPr>
          <p:cNvPr id="27" name="Text 24"/>
          <p:cNvSpPr/>
          <p:nvPr/>
        </p:nvSpPr>
        <p:spPr>
          <a:xfrm>
            <a:off x="4206240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Automates triage via EHR integration, reducing clinical over-utilization while flagging high-risk anomalies.</a:t>
            </a:r>
            <a:endParaRPr lang="en-US"/>
          </a:p>
        </p:txBody>
      </p:sp>
      <p:pic>
        <p:nvPicPr>
          <p:cNvPr id="29" name="Picture 28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239D63F9-2298-4E63-0AD5-4F7ECB811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81" t="29574" r="18482" b="23081"/>
          <a:stretch>
            <a:fillRect/>
          </a:stretch>
        </p:blipFill>
        <p:spPr>
          <a:xfrm>
            <a:off x="-27542" y="707896"/>
            <a:ext cx="3319462" cy="2435186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A0FFEC5E-83EB-D0C0-5D70-BB43C6D059A1}"/>
              </a:ext>
            </a:extLst>
          </p:cNvPr>
          <p:cNvSpPr/>
          <p:nvPr/>
        </p:nvSpPr>
        <p:spPr>
          <a:xfrm>
            <a:off x="320039" y="3811604"/>
            <a:ext cx="283464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Anjali Katta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89BF0A-018A-E08D-9AA6-C2959EC5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4C9B88-8479-8E4F-85BD-F939BF89CE96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190BBCC-1574-0D80-80C5-8A662DE50E7C}"/>
              </a:ext>
            </a:extLst>
          </p:cNvPr>
          <p:cNvSpPr/>
          <p:nvPr/>
        </p:nvSpPr>
        <p:spPr>
          <a:xfrm>
            <a:off x="0" y="612648"/>
            <a:ext cx="914400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7DAA89-AB6B-8E98-FE5B-BAA4BD5C1F69}"/>
              </a:ext>
            </a:extLst>
          </p:cNvPr>
          <p:cNvSpPr/>
          <p:nvPr/>
        </p:nvSpPr>
        <p:spPr>
          <a:xfrm>
            <a:off x="411480" y="822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BF64FD-8761-B4FE-9C31-8F82B4ECDD48}"/>
              </a:ext>
            </a:extLst>
          </p:cNvPr>
          <p:cNvSpPr/>
          <p:nvPr/>
        </p:nvSpPr>
        <p:spPr>
          <a:xfrm>
            <a:off x="411480" y="8229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900">
              <a:solidFill>
                <a:srgbClr val="00C9C8"/>
              </a:solidFill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4E77787-25A5-C361-A152-8E341FFA19E9}"/>
              </a:ext>
            </a:extLst>
          </p:cNvPr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solidFill>
            <a:srgbClr val="007C91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F377AC-4B84-73B5-BBC0-9DC17D27258C}"/>
              </a:ext>
            </a:extLst>
          </p:cNvPr>
          <p:cNvSpPr/>
          <p:nvPr/>
        </p:nvSpPr>
        <p:spPr>
          <a:xfrm>
            <a:off x="8686800" y="4919472"/>
            <a:ext cx="457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8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96B9C98-62E0-FDCF-DD5C-B0833AEFAA29}"/>
              </a:ext>
            </a:extLst>
          </p:cNvPr>
          <p:cNvSpPr/>
          <p:nvPr/>
        </p:nvSpPr>
        <p:spPr>
          <a:xfrm>
            <a:off x="365760" y="961243"/>
            <a:ext cx="8183880" cy="386678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22AA9C1-5097-8C7C-B6F1-EB8D1F1BDA15}"/>
              </a:ext>
            </a:extLst>
          </p:cNvPr>
          <p:cNvSpPr/>
          <p:nvPr/>
        </p:nvSpPr>
        <p:spPr>
          <a:xfrm>
            <a:off x="384048" y="961243"/>
            <a:ext cx="45719" cy="3866789"/>
          </a:xfrm>
          <a:prstGeom prst="rect">
            <a:avLst/>
          </a:prstGeom>
          <a:solidFill>
            <a:srgbClr val="009DB3"/>
          </a:solidFill>
          <a:ln w="12700">
            <a:solidFill>
              <a:srgbClr val="009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2632FC-4113-A92F-2AAE-9218772A5CBF}"/>
              </a:ext>
            </a:extLst>
          </p:cNvPr>
          <p:cNvSpPr/>
          <p:nvPr/>
        </p:nvSpPr>
        <p:spPr>
          <a:xfrm>
            <a:off x="506288" y="952099"/>
            <a:ext cx="7997631" cy="3757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itchFamily="2" charset="2"/>
              <a:buChar char="v"/>
            </a:pPr>
            <a:r>
              <a:rPr lang="en-US" sz="950"/>
              <a:t>Berg, S. (2025, May 16). </a:t>
            </a:r>
            <a:r>
              <a:rPr lang="en-US" sz="950" i="1"/>
              <a:t>What doctors wish patients knew about getting a cesarean section</a:t>
            </a:r>
            <a:r>
              <a:rPr lang="en-US" sz="950"/>
              <a:t>. American Medical Association. </a:t>
            </a:r>
            <a:r>
              <a:rPr lang="en-US" sz="950">
                <a:hlinkClick r:id="rId3"/>
              </a:rPr>
              <a:t>https://www.ama-assn.org/public-health/population-health/what-doctors-wish-patients-knew-about-getting-cesarean-section#:~:text=%E2%80%9CNearly%201.2%20million%20women%20have,C%2Dsection%20may%20be%20needed</a:t>
            </a:r>
            <a:r>
              <a:rPr lang="en-US" sz="950"/>
              <a:t>   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 err="1"/>
              <a:t>Zuarez</a:t>
            </a:r>
            <a:r>
              <a:rPr lang="en-US" sz="950"/>
              <a:t>-Easton, S., Zafran, N., Garmi, G., &amp; Salim, R. (2017). </a:t>
            </a:r>
            <a:r>
              <a:rPr lang="en-US" sz="950" err="1"/>
              <a:t>Postcesarean</a:t>
            </a:r>
            <a:r>
              <a:rPr lang="en-US" sz="950"/>
              <a:t> wound infection: prevalence, impact, prevention, and management challenges. </a:t>
            </a:r>
            <a:r>
              <a:rPr lang="en-US" sz="950" i="1"/>
              <a:t>International journal of women's health</a:t>
            </a:r>
            <a:r>
              <a:rPr lang="en-US" sz="950"/>
              <a:t>, </a:t>
            </a:r>
            <a:r>
              <a:rPr lang="en-US" sz="950" i="1"/>
              <a:t>9</a:t>
            </a:r>
            <a:r>
              <a:rPr lang="en-US" sz="950"/>
              <a:t>, 81–88. </a:t>
            </a:r>
            <a:r>
              <a:rPr lang="en-US" sz="950">
                <a:hlinkClick r:id="rId4"/>
              </a:rPr>
              <a:t>https://doi.org/10.2147/IJWH.S98876</a:t>
            </a:r>
            <a:r>
              <a:rPr lang="en-US" sz="950"/>
              <a:t> </a:t>
            </a:r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r>
              <a:rPr lang="en-US" sz="950"/>
              <a:t>Shambhu, S. (2024, December). </a:t>
            </a:r>
            <a:r>
              <a:rPr lang="en-US" sz="950" i="1"/>
              <a:t>Criteria for placental examination for obstetrical and neonatal providers - American Journal of Obstetrics &amp; Gynecology</a:t>
            </a:r>
            <a:r>
              <a:rPr lang="en-US" sz="950"/>
              <a:t>. JOINT COMMISSIONTM. </a:t>
            </a:r>
            <a:r>
              <a:rPr lang="en-US" sz="950">
                <a:hlinkClick r:id="rId5"/>
              </a:rPr>
              <a:t>https://www.ajog.org/article/S0002-9378(22)02295-5/fulltext</a:t>
            </a:r>
            <a:r>
              <a:rPr lang="en-US" sz="950"/>
              <a:t>   </a:t>
            </a:r>
            <a:br>
              <a:rPr lang="en-US" sz="950"/>
            </a:br>
            <a:endParaRPr lang="en-US" sz="950"/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endParaRPr lang="en-US" sz="950"/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endParaRPr lang="en-US" sz="950"/>
          </a:p>
          <a:p>
            <a:pPr marL="171450" indent="-171450">
              <a:lnSpc>
                <a:spcPct val="130000"/>
              </a:lnSpc>
              <a:buSzPct val="100000"/>
              <a:buFont typeface="Wingdings" pitchFamily="2" charset="2"/>
              <a:buChar char="v"/>
            </a:pPr>
            <a:endParaRPr lang="en-US" sz="9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5E7D10F-1BDC-4517-2703-0ABA4C25482A}"/>
              </a:ext>
            </a:extLst>
          </p:cNvPr>
          <p:cNvSpPr/>
          <p:nvPr/>
        </p:nvSpPr>
        <p:spPr>
          <a:xfrm>
            <a:off x="5029200" y="1234440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“[Insert compelling quote from a clinician, patient advocate, or potential customer who validated the solution concept during discovery interviews.]”</a:t>
            </a:r>
            <a:endParaRPr lang="en-US" sz="85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[Name, Role]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313126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2402</Words>
  <Application>Microsoft Macintosh PowerPoint</Application>
  <PresentationFormat>On-screen Show (16:9)</PresentationFormat>
  <Paragraphs>383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Georgia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SurgeSentinel Pitch Deck</dc:title>
  <dc:subject>PptxGenJS Presentation</dc:subject>
  <dc:creator>SurgeSentinel Team</dc:creator>
  <cp:lastModifiedBy>Yashvi Gupta</cp:lastModifiedBy>
  <cp:revision>2</cp:revision>
  <dcterms:created xsi:type="dcterms:W3CDTF">2026-04-10T01:21:17Z</dcterms:created>
  <dcterms:modified xsi:type="dcterms:W3CDTF">2026-06-05T07:04:40Z</dcterms:modified>
</cp:coreProperties>
</file>