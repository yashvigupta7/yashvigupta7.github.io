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8803600" cx="51206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rRO9Aslj/5sFdDEIudCFjS/8O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b3d342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cfb3d342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3520440" y="7667625"/>
            <a:ext cx="44165520" cy="1827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B31B1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393373" y="4257675"/>
            <a:ext cx="48477712" cy="22459950"/>
          </a:xfrm>
          <a:prstGeom prst="roundRect">
            <a:avLst>
              <a:gd fmla="val 29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68"/>
              <a:buFont typeface="Arial"/>
              <a:buNone/>
            </a:pPr>
            <a:r>
              <a:t/>
            </a:r>
            <a:endParaRPr b="0" i="0" sz="1036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400800" y="4713925"/>
            <a:ext cx="38404800" cy="1002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0"/>
              <a:buFont typeface="Calibri"/>
              <a:buNone/>
              <a:defRPr sz="2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5128560"/>
            <a:ext cx="38404800" cy="6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sz="10080"/>
            </a:lvl1pPr>
            <a:lvl2pPr lvl="1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sz="8400"/>
            </a:lvl2pPr>
            <a:lvl3pPr lvl="2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sz="7560"/>
            </a:lvl3pPr>
            <a:lvl4pPr lvl="3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4pPr>
            <a:lvl5pPr lvl="4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5pPr>
            <a:lvl6pPr lvl="5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6pPr>
            <a:lvl7pPr lvl="6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7pPr>
            <a:lvl8pPr lvl="7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8pPr>
            <a:lvl9pPr lvl="8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93770" y="7180902"/>
            <a:ext cx="44165520" cy="11981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0"/>
              <a:buFont typeface="Calibri"/>
              <a:buNone/>
              <a:defRPr sz="2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493770" y="19275747"/>
            <a:ext cx="44165520" cy="6300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rgbClr val="888888"/>
              </a:buClr>
              <a:buSzPts val="10080"/>
              <a:buNone/>
              <a:defRPr sz="1008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8400"/>
              <a:buNone/>
              <a:defRPr sz="8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7560"/>
              <a:buNone/>
              <a:defRPr sz="75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520440" y="7667625"/>
            <a:ext cx="21762720" cy="1827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25923240" y="7667625"/>
            <a:ext cx="21762720" cy="1827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52711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527112" y="7060885"/>
            <a:ext cx="21662705" cy="34604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b="1" sz="10080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b="1" sz="840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3527112" y="10521315"/>
            <a:ext cx="21662705" cy="154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3" type="body"/>
          </p:nvPr>
        </p:nvSpPr>
        <p:spPr>
          <a:xfrm>
            <a:off x="25923240" y="7060885"/>
            <a:ext cx="21769390" cy="34604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b="1" sz="10080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b="1" sz="840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9pPr>
          </a:lstStyle>
          <a:p/>
        </p:txBody>
      </p:sp>
      <p:sp>
        <p:nvSpPr>
          <p:cNvPr id="43" name="Google Shape;43;p8"/>
          <p:cNvSpPr txBox="1"/>
          <p:nvPr>
            <p:ph idx="4" type="body"/>
          </p:nvPr>
        </p:nvSpPr>
        <p:spPr>
          <a:xfrm>
            <a:off x="25923240" y="10521315"/>
            <a:ext cx="21769390" cy="154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3527112" y="1920240"/>
            <a:ext cx="16515395" cy="6720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Calibri"/>
              <a:buNone/>
              <a:defRPr sz="1343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1769390" y="4147187"/>
            <a:ext cx="25923240" cy="2046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1pPr>
            <a:lvl2pPr indent="-97536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760"/>
              <a:buChar char="•"/>
              <a:defRPr sz="11760"/>
            </a:lvl2pPr>
            <a:lvl3pPr indent="-86868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3pPr>
            <a:lvl4pPr indent="-7620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4pPr>
            <a:lvl5pPr indent="-7620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5pPr>
            <a:lvl6pPr indent="-7620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6pPr>
            <a:lvl7pPr indent="-7620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7pPr>
            <a:lvl8pPr indent="-7620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8pPr>
            <a:lvl9pPr indent="-7620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3527112" y="8641080"/>
            <a:ext cx="16515395" cy="16008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527112" y="1920240"/>
            <a:ext cx="16515395" cy="6720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Calibri"/>
              <a:buNone/>
              <a:defRPr sz="1343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2" type="pic"/>
          </p:nvPr>
        </p:nvSpPr>
        <p:spPr>
          <a:xfrm>
            <a:off x="21769390" y="4147187"/>
            <a:ext cx="25923240" cy="204692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527112" y="8641080"/>
            <a:ext cx="16515395" cy="16008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 rot="5400000">
            <a:off x="16465390" y="-5277325"/>
            <a:ext cx="18275620" cy="441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 rot="5400000">
            <a:off x="29960410" y="8217695"/>
            <a:ext cx="24409720" cy="11041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 rot="5400000">
            <a:off x="7557610" y="-2503645"/>
            <a:ext cx="24409720" cy="3248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480"/>
              <a:buFont typeface="Calibri"/>
              <a:buNone/>
              <a:defRPr b="0" i="0" sz="18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520440" y="7667625"/>
            <a:ext cx="44165520" cy="1827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75360" lvl="0" marL="457200" marR="0" rtl="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1760"/>
              <a:buFont typeface="Arial"/>
              <a:buChar char="•"/>
              <a:defRPr b="0" i="0" sz="11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68680" lvl="1" marL="9144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b="0" i="0" sz="10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0" lvl="2" marL="13716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b="0" i="0" sz="8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08660" lvl="3" marL="18288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08660" lvl="4" marL="22860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08660" lvl="5" marL="27432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08660" lvl="6" marL="32004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08660" lvl="7" marL="36576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08659" lvl="8" marL="41148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0"/>
              <a:buFont typeface="Arial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z4fE7PnCmHirnWePL4e2tQgA1YSY_Orz/view" TargetMode="External"/><Relationship Id="rId10" Type="http://schemas.openxmlformats.org/officeDocument/2006/relationships/image" Target="../media/image1.png"/><Relationship Id="rId1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fb3d3425_0_4"/>
          <p:cNvSpPr txBox="1"/>
          <p:nvPr/>
        </p:nvSpPr>
        <p:spPr>
          <a:xfrm>
            <a:off x="39315250" y="19960125"/>
            <a:ext cx="10706100" cy="7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sng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Acknowledgements</a:t>
            </a:r>
            <a:endParaRPr b="1" i="0" sz="8000" u="sng" cap="none" strike="noStrik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Dr. Kaminsky’s surgical practice is predominantly focused on oncologic reconstructions, utilizing techniques such as elliptical excisions and Mohs repairs to treat skin malignancies like basal cell carcinoma. Beyond cancer care, a significant portion of his caseload involves complex wound closures and specialized nerve procedures, such as Targeted Muscle Reinnervation (TMR).</a:t>
            </a:r>
            <a:endParaRPr b="0" i="0" sz="3700" u="none" cap="none" strike="noStrik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87" name="Google Shape;87;g3acfb3d3425_0_4"/>
          <p:cNvSpPr/>
          <p:nvPr/>
        </p:nvSpPr>
        <p:spPr>
          <a:xfrm>
            <a:off x="753150" y="4355200"/>
            <a:ext cx="49860600" cy="2353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cfb3d3425_0_4"/>
          <p:cNvSpPr txBox="1"/>
          <p:nvPr/>
        </p:nvSpPr>
        <p:spPr>
          <a:xfrm>
            <a:off x="11395450" y="2303175"/>
            <a:ext cx="30895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alatino"/>
              <a:buNone/>
            </a:pPr>
            <a:r>
              <a:rPr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SYSEN 5300 - Systems Engineering and Six Sigma</a:t>
            </a:r>
            <a:r>
              <a:rPr b="0" i="0" lang="en-US" sz="4400" u="none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 | Cornell University, College of Engineering | </a:t>
            </a:r>
            <a:r>
              <a:rPr b="0" i="1" lang="en-US" sz="4400" u="none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Fall 2025</a:t>
            </a:r>
            <a:endParaRPr b="0" i="1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acfb3d3425_0_4"/>
          <p:cNvSpPr txBox="1"/>
          <p:nvPr/>
        </p:nvSpPr>
        <p:spPr>
          <a:xfrm>
            <a:off x="2154299" y="3046174"/>
            <a:ext cx="470583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alatino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Srinjoy Chatterjee</a:t>
            </a:r>
            <a:r>
              <a:rPr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1" lang="en-US" sz="4400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sc2827@cornell</a:t>
            </a:r>
            <a:r>
              <a:rPr b="0" i="1" lang="en-US" sz="4400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0" lang="en-US" sz="4400" u="none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| </a:t>
            </a:r>
            <a:r>
              <a:rPr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Yashvi Gupta </a:t>
            </a:r>
            <a:r>
              <a:rPr i="1"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yg678@cornell</a:t>
            </a:r>
            <a:r>
              <a:rPr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 | Shreya Dandwate </a:t>
            </a:r>
            <a:r>
              <a:rPr i="1"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sd2284@cornell| </a:t>
            </a:r>
            <a:r>
              <a:rPr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Daniella Ameh </a:t>
            </a:r>
            <a:r>
              <a:rPr i="1" lang="en-US" sz="44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daa245@cornell</a:t>
            </a:r>
            <a:endParaRPr b="0" i="1" sz="1400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3acfb3d3425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8725" y="581500"/>
            <a:ext cx="2915775" cy="29068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g3acfb3d3425_0_4"/>
          <p:cNvSpPr txBox="1"/>
          <p:nvPr>
            <p:ph idx="4294967295" type="ctrTitle"/>
          </p:nvPr>
        </p:nvSpPr>
        <p:spPr>
          <a:xfrm>
            <a:off x="1134000" y="5729875"/>
            <a:ext cx="12881700" cy="12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1"/>
              <a:buFont typeface="Arial"/>
              <a:buNone/>
            </a:pP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Research </a:t>
            </a: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Question</a:t>
            </a: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: </a:t>
            </a:r>
            <a:endParaRPr b="1" sz="3634"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1"/>
              <a:buFont typeface="Arial"/>
              <a:buNone/>
            </a:pPr>
            <a:r>
              <a:rPr i="1" lang="en-US" sz="3634">
                <a:latin typeface="Palatino"/>
                <a:ea typeface="Palatino"/>
                <a:cs typeface="Palatino"/>
                <a:sym typeface="Palatino"/>
              </a:rPr>
              <a:t>Is there a significant difference in process capability among the Pumani, Fisher &amp; Paykel, and Diamedica CPAP systems in maintaining airway pressure within ±0.5 cm H₂O of the clinical target?</a:t>
            </a:r>
            <a:endParaRPr i="1" sz="3634"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1"/>
              <a:buFont typeface="Arial"/>
              <a:buNone/>
            </a:pPr>
            <a:r>
              <a:t/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1"/>
              <a:buFont typeface="Arial"/>
              <a:buNone/>
            </a:pP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Background:</a:t>
            </a: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  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Unstable airway pressure in non-invasive CPAP systems increases the risk of treatment failure for neonates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Pressure Pumani to Fisher &amp; Paykel and Diamedica water depth or flow rate during continuous use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Inconsistent performance leads to higher hospital costs, greater staff workload, and more patient complications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Ongoing reliability issues could reduce clinician and funder confidence in Pumani, limiting adoption in low-resource settings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Comparing Pumani to Fisher &amp; Paykel and Diamedica CPAP systems is essential for identifying performance gaps and guiding targeted improvements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2" name="Google Shape;92;g3acfb3d3425_0_4"/>
          <p:cNvSpPr/>
          <p:nvPr/>
        </p:nvSpPr>
        <p:spPr>
          <a:xfrm>
            <a:off x="14631650" y="4577350"/>
            <a:ext cx="19825200" cy="882600"/>
          </a:xfrm>
          <a:prstGeom prst="rect">
            <a:avLst/>
          </a:prstGeom>
          <a:solidFill>
            <a:srgbClr val="8125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Methods</a:t>
            </a:r>
            <a:endParaRPr b="1" i="0" sz="5000" u="none" cap="none" strike="noStrike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3" name="Google Shape;93;g3acfb3d3425_0_4"/>
          <p:cNvSpPr/>
          <p:nvPr/>
        </p:nvSpPr>
        <p:spPr>
          <a:xfrm>
            <a:off x="34875800" y="4577350"/>
            <a:ext cx="15368700" cy="917400"/>
          </a:xfrm>
          <a:prstGeom prst="rect">
            <a:avLst/>
          </a:prstGeom>
          <a:solidFill>
            <a:srgbClr val="8125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Results</a:t>
            </a:r>
            <a:r>
              <a:rPr b="1" i="0" lang="en-US" sz="5000" u="none" cap="none" strike="noStrike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endParaRPr b="1" i="0" sz="5000" u="none" cap="none" strike="noStrike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4" name="Google Shape;94;g3acfb3d3425_0_4"/>
          <p:cNvSpPr txBox="1"/>
          <p:nvPr/>
        </p:nvSpPr>
        <p:spPr>
          <a:xfrm>
            <a:off x="1002246" y="23877813"/>
            <a:ext cx="5177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1" lang="en-US" sz="29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Figure </a:t>
            </a:r>
            <a:r>
              <a:rPr i="1"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1. Pumani Bubble CPAP</a:t>
            </a:r>
            <a:endParaRPr b="0" i="1" sz="2900" u="none" cap="none" strike="noStrik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5" name="Google Shape;95;g3acfb3d3425_0_4"/>
          <p:cNvSpPr txBox="1"/>
          <p:nvPr/>
        </p:nvSpPr>
        <p:spPr>
          <a:xfrm>
            <a:off x="14444200" y="631650"/>
            <a:ext cx="247980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Font typeface="Arial"/>
              <a:buNone/>
            </a:pPr>
            <a:r>
              <a:rPr b="1" lang="en-US" sz="9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Improving Reliability of Neonatal CPAP Devices </a:t>
            </a:r>
            <a:endParaRPr b="1" i="0" sz="9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acfb3d3425_0_4"/>
          <p:cNvSpPr/>
          <p:nvPr/>
        </p:nvSpPr>
        <p:spPr>
          <a:xfrm>
            <a:off x="1105200" y="17042275"/>
            <a:ext cx="12939300" cy="917400"/>
          </a:xfrm>
          <a:prstGeom prst="rect">
            <a:avLst/>
          </a:prstGeom>
          <a:solidFill>
            <a:srgbClr val="8125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Objectives</a:t>
            </a:r>
            <a:endParaRPr b="1" i="0" sz="5000" u="none" cap="none" strike="noStrike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7" name="Google Shape;97;g3acfb3d3425_0_4"/>
          <p:cNvSpPr/>
          <p:nvPr/>
        </p:nvSpPr>
        <p:spPr>
          <a:xfrm>
            <a:off x="1134000" y="4577200"/>
            <a:ext cx="12881700" cy="882600"/>
          </a:xfrm>
          <a:prstGeom prst="rect">
            <a:avLst/>
          </a:prstGeom>
          <a:solidFill>
            <a:srgbClr val="8125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Introduction</a:t>
            </a:r>
            <a:endParaRPr b="1" i="0" sz="5000" u="none" cap="none" strike="noStrike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98" name="Google Shape;98;g3acfb3d3425_0_4"/>
          <p:cNvSpPr txBox="1"/>
          <p:nvPr>
            <p:ph idx="4294967295" type="ctrTitle"/>
          </p:nvPr>
        </p:nvSpPr>
        <p:spPr>
          <a:xfrm>
            <a:off x="1105200" y="17959675"/>
            <a:ext cx="129393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59358" lvl="0" marL="457200" rtl="0" algn="l">
              <a:spcBef>
                <a:spcPts val="0"/>
              </a:spcBef>
              <a:spcAft>
                <a:spcPts val="0"/>
              </a:spcAft>
              <a:buSzPts val="3634"/>
              <a:buFont typeface="Palatino"/>
              <a:buChar char="●"/>
            </a:pP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Use bench-test data and DMAIC analysis to identify improvements that enhance neonatal respiratory safety in low-resource settings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1"/>
              <a:buFont typeface="Arial"/>
              <a:buNone/>
            </a:pPr>
            <a:r>
              <a:t/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99" name="Google Shape;99;g3acfb3d3425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412" y="20509963"/>
            <a:ext cx="2915773" cy="29157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acfb3d3425_0_4"/>
          <p:cNvSpPr txBox="1"/>
          <p:nvPr>
            <p:ph idx="4294967295" type="ctrTitle"/>
          </p:nvPr>
        </p:nvSpPr>
        <p:spPr>
          <a:xfrm>
            <a:off x="1181800" y="25275975"/>
            <a:ext cx="4818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1928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45"/>
              <a:buFont typeface="Palatino"/>
              <a:buChar char="●"/>
            </a:pPr>
            <a:r>
              <a:rPr lang="en-US" sz="3044">
                <a:latin typeface="Palatino"/>
                <a:ea typeface="Palatino"/>
                <a:cs typeface="Palatino"/>
                <a:sym typeface="Palatino"/>
              </a:rPr>
              <a:t>Low-cost CPAP with higher pressure variability</a:t>
            </a:r>
            <a:endParaRPr sz="3044">
              <a:latin typeface="Palatino"/>
              <a:ea typeface="Palatino"/>
              <a:cs typeface="Palatino"/>
              <a:sym typeface="Palatino"/>
            </a:endParaRPr>
          </a:p>
          <a:p>
            <a:pPr indent="-421928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45"/>
              <a:buFont typeface="Palatino"/>
              <a:buChar char="●"/>
            </a:pPr>
            <a:r>
              <a:rPr lang="en-US" sz="3044">
                <a:latin typeface="Palatino"/>
                <a:ea typeface="Palatino"/>
                <a:cs typeface="Palatino"/>
                <a:sym typeface="Palatino"/>
              </a:rPr>
              <a:t>Designed for low-resource hospitals</a:t>
            </a:r>
            <a:endParaRPr sz="3044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01" name="Google Shape;101;g3acfb3d3425_0_4"/>
          <p:cNvSpPr txBox="1"/>
          <p:nvPr/>
        </p:nvSpPr>
        <p:spPr>
          <a:xfrm>
            <a:off x="6000401" y="23812200"/>
            <a:ext cx="4818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1" lang="en-US" sz="29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Figure </a:t>
            </a:r>
            <a:r>
              <a:rPr i="1"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2.</a:t>
            </a:r>
            <a:r>
              <a:rPr i="1"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 Fisher &amp; Paykel  Bubble CPAP</a:t>
            </a:r>
            <a:endParaRPr b="0" i="1" sz="2900" u="none" cap="none" strike="noStrik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102" name="Google Shape;102;g3acfb3d3425_0_4" title="Diamedica Baby CPAP 10 Devi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2438" y="19840288"/>
            <a:ext cx="4255124" cy="425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acfb3d3425_0_4"/>
          <p:cNvSpPr txBox="1"/>
          <p:nvPr/>
        </p:nvSpPr>
        <p:spPr>
          <a:xfrm>
            <a:off x="10069750" y="23812200"/>
            <a:ext cx="4120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1" lang="en-US" sz="29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Figure </a:t>
            </a:r>
            <a:r>
              <a:rPr i="1"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3</a:t>
            </a:r>
            <a:r>
              <a:rPr i="1"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. Diamedica Bubble CPAP</a:t>
            </a:r>
            <a:endParaRPr b="0" i="1" sz="2900" u="none" cap="none" strike="noStrike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04" name="Google Shape;104;g3acfb3d3425_0_4"/>
          <p:cNvSpPr txBox="1"/>
          <p:nvPr>
            <p:ph idx="4294967295" type="ctrTitle"/>
          </p:nvPr>
        </p:nvSpPr>
        <p:spPr>
          <a:xfrm>
            <a:off x="6062038" y="25275975"/>
            <a:ext cx="4120500" cy="27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alatino"/>
              <a:buChar char="●"/>
            </a:pPr>
            <a:r>
              <a:rPr lang="en-US" sz="3000">
                <a:latin typeface="Palatino"/>
                <a:ea typeface="Palatino"/>
                <a:cs typeface="Palatino"/>
                <a:sym typeface="Palatino"/>
              </a:rPr>
              <a:t>Gold-standard system </a:t>
            </a:r>
            <a:endParaRPr sz="3000">
              <a:latin typeface="Palatino"/>
              <a:ea typeface="Palatino"/>
              <a:cs typeface="Palatino"/>
              <a:sym typeface="Palatino"/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alatino"/>
              <a:buChar char="●"/>
            </a:pPr>
            <a:r>
              <a:rPr lang="en-US" sz="3000">
                <a:latin typeface="Palatino"/>
                <a:ea typeface="Palatino"/>
                <a:cs typeface="Palatino"/>
                <a:sym typeface="Palatino"/>
              </a:rPr>
              <a:t>Known for stable &amp; precise airway pressure delivery</a:t>
            </a:r>
            <a:endParaRPr sz="3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05" name="Google Shape;105;g3acfb3d3425_0_4"/>
          <p:cNvSpPr txBox="1"/>
          <p:nvPr>
            <p:ph idx="4294967295" type="ctrTitle"/>
          </p:nvPr>
        </p:nvSpPr>
        <p:spPr>
          <a:xfrm>
            <a:off x="10244200" y="25275975"/>
            <a:ext cx="3771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alatino"/>
              <a:buChar char="●"/>
            </a:pPr>
            <a:r>
              <a:rPr lang="en-US" sz="3000">
                <a:latin typeface="Palatino"/>
                <a:ea typeface="Palatino"/>
                <a:cs typeface="Palatino"/>
                <a:sym typeface="Palatino"/>
              </a:rPr>
              <a:t>Durable, reliable bubble CPAP</a:t>
            </a:r>
            <a:endParaRPr sz="3000">
              <a:latin typeface="Palatino"/>
              <a:ea typeface="Palatino"/>
              <a:cs typeface="Palatino"/>
              <a:sym typeface="Palatino"/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alatino"/>
              <a:buChar char="●"/>
            </a:pPr>
            <a:r>
              <a:rPr lang="en-US" sz="3000">
                <a:latin typeface="Palatino"/>
                <a:ea typeface="Palatino"/>
                <a:cs typeface="Palatino"/>
                <a:sym typeface="Palatino"/>
              </a:rPr>
              <a:t>Widely used in global health settings</a:t>
            </a:r>
            <a:endParaRPr sz="3000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106" name="Google Shape;106;g3acfb3d3425_0_4" title="Pumani Bubble CPAP Medical Devi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8675" y="19960125"/>
            <a:ext cx="3771599" cy="37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acfb3d3425_0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96575" y="5771463"/>
            <a:ext cx="15127150" cy="8746100"/>
          </a:xfrm>
          <a:prstGeom prst="rect">
            <a:avLst/>
          </a:prstGeom>
          <a:noFill/>
          <a:ln cap="flat" cmpd="sng" w="114300">
            <a:solidFill>
              <a:srgbClr val="81252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g3acfb3d3425_0_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96575" y="17068475"/>
            <a:ext cx="15127150" cy="8218675"/>
          </a:xfrm>
          <a:prstGeom prst="rect">
            <a:avLst/>
          </a:prstGeom>
          <a:noFill/>
          <a:ln cap="flat" cmpd="sng" w="114300">
            <a:solidFill>
              <a:srgbClr val="81252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g3acfb3d3425_0_4"/>
          <p:cNvSpPr txBox="1"/>
          <p:nvPr/>
        </p:nvSpPr>
        <p:spPr>
          <a:xfrm>
            <a:off x="36458475" y="14699938"/>
            <a:ext cx="128817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i="1" lang="en-US" sz="28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Figure 4. Delivered Pressure Deviation (ΔP) Distributions by Device</a:t>
            </a:r>
            <a:r>
              <a:rPr i="1" lang="en-US" sz="28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endParaRPr i="1" sz="28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10" name="Google Shape;110;g3acfb3d3425_0_4"/>
          <p:cNvSpPr txBox="1"/>
          <p:nvPr/>
        </p:nvSpPr>
        <p:spPr>
          <a:xfrm>
            <a:off x="36458475" y="25504834"/>
            <a:ext cx="12881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i="1" lang="en-US" sz="28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Figure 5. </a:t>
            </a:r>
            <a:r>
              <a:rPr i="1" lang="en-US" sz="28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Mean ΔP by Device with 95% CI</a:t>
            </a:r>
            <a:endParaRPr i="1" sz="28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11" name="Google Shape;111;g3acfb3d3425_0_4"/>
          <p:cNvSpPr txBox="1"/>
          <p:nvPr/>
        </p:nvSpPr>
        <p:spPr>
          <a:xfrm>
            <a:off x="34996575" y="26353700"/>
            <a:ext cx="153687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Diamedica stays closest to target, Fisher &amp; Paykel shows moderate deviation, Pumani exhibits the highest mean over-pressurization beyond the ±0.5 cm H₂O limit</a:t>
            </a:r>
            <a:endParaRPr sz="29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112" name="Google Shape;112;g3acfb3d3425_0_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650" y="822150"/>
            <a:ext cx="7881840" cy="8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acfb3d3425_0_4"/>
          <p:cNvSpPr txBox="1"/>
          <p:nvPr/>
        </p:nvSpPr>
        <p:spPr>
          <a:xfrm>
            <a:off x="34875800" y="15449200"/>
            <a:ext cx="15368700" cy="1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Diamedica stays closest to ± 0.5 cm H₂O, Fisher &amp; Paykel shows moderate spread, Pumani is wide and right-shifted, indicating frequent over-pressurization</a:t>
            </a:r>
            <a:endParaRPr sz="29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114" name="Google Shape;114;g3acfb3d3425_0_4" title="Code_Generated_Image (1).png"/>
          <p:cNvPicPr preferRelativeResize="0"/>
          <p:nvPr/>
        </p:nvPicPr>
        <p:blipFill rotWithShape="1">
          <a:blip r:embed="rId10">
            <a:alphaModFix/>
          </a:blip>
          <a:srcRect b="52680" l="15406" r="15226" t="10191"/>
          <a:stretch/>
        </p:blipFill>
        <p:spPr>
          <a:xfrm>
            <a:off x="14631650" y="5771475"/>
            <a:ext cx="10083324" cy="685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acfb3d3425_0_4" title="Code_Generated_Image (1).png"/>
          <p:cNvPicPr preferRelativeResize="0"/>
          <p:nvPr/>
        </p:nvPicPr>
        <p:blipFill rotWithShape="1">
          <a:blip r:embed="rId10">
            <a:alphaModFix/>
          </a:blip>
          <a:srcRect b="13069" l="16301" r="16643" t="47432"/>
          <a:stretch/>
        </p:blipFill>
        <p:spPr>
          <a:xfrm>
            <a:off x="24421575" y="5629250"/>
            <a:ext cx="9542643" cy="71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acfb3d3425_0_4"/>
          <p:cNvSpPr txBox="1"/>
          <p:nvPr/>
        </p:nvSpPr>
        <p:spPr>
          <a:xfrm>
            <a:off x="14631638" y="5771450"/>
            <a:ext cx="19346100" cy="6851100"/>
          </a:xfrm>
          <a:prstGeom prst="rect">
            <a:avLst/>
          </a:prstGeom>
          <a:noFill/>
          <a:ln cap="flat" cmpd="sng" w="114300">
            <a:solidFill>
              <a:srgbClr val="812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60">
              <a:solidFill>
                <a:srgbClr val="8125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acfb3d3425_0_4"/>
          <p:cNvSpPr/>
          <p:nvPr/>
        </p:nvSpPr>
        <p:spPr>
          <a:xfrm rot="5400000">
            <a:off x="28831700" y="5508675"/>
            <a:ext cx="611400" cy="1289700"/>
          </a:xfrm>
          <a:prstGeom prst="flowChartDelay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acfb3d3425_0_4"/>
          <p:cNvSpPr/>
          <p:nvPr/>
        </p:nvSpPr>
        <p:spPr>
          <a:xfrm rot="5400000">
            <a:off x="28984100" y="5508675"/>
            <a:ext cx="611400" cy="1289700"/>
          </a:xfrm>
          <a:prstGeom prst="flowChartDelay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g3acfb3d3425_0_4"/>
          <p:cNvCxnSpPr/>
          <p:nvPr/>
        </p:nvCxnSpPr>
        <p:spPr>
          <a:xfrm>
            <a:off x="24349163" y="5771450"/>
            <a:ext cx="0" cy="6851100"/>
          </a:xfrm>
          <a:prstGeom prst="straightConnector1">
            <a:avLst/>
          </a:prstGeom>
          <a:noFill/>
          <a:ln cap="flat" cmpd="sng" w="76200">
            <a:solidFill>
              <a:srgbClr val="8125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g3acfb3d3425_0_4"/>
          <p:cNvSpPr/>
          <p:nvPr/>
        </p:nvSpPr>
        <p:spPr>
          <a:xfrm rot="5400000">
            <a:off x="19276725" y="8873456"/>
            <a:ext cx="793200" cy="1003500"/>
          </a:xfrm>
          <a:prstGeom prst="flowChartDelay">
            <a:avLst/>
          </a:prstGeom>
          <a:solidFill>
            <a:srgbClr val="E6F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acfb3d3425_0_4"/>
          <p:cNvSpPr/>
          <p:nvPr/>
        </p:nvSpPr>
        <p:spPr>
          <a:xfrm rot="5400000">
            <a:off x="28893212" y="9156931"/>
            <a:ext cx="793200" cy="1003500"/>
          </a:xfrm>
          <a:prstGeom prst="flowChartDelay">
            <a:avLst/>
          </a:prstGeom>
          <a:solidFill>
            <a:srgbClr val="FFE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acfb3d3425_0_4"/>
          <p:cNvSpPr/>
          <p:nvPr/>
        </p:nvSpPr>
        <p:spPr>
          <a:xfrm>
            <a:off x="15082975" y="6056775"/>
            <a:ext cx="1289700" cy="1077300"/>
          </a:xfrm>
          <a:prstGeom prst="ellipse">
            <a:avLst/>
          </a:prstGeom>
          <a:solidFill>
            <a:srgbClr val="812524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acfb3d3425_0_4"/>
          <p:cNvSpPr/>
          <p:nvPr/>
        </p:nvSpPr>
        <p:spPr>
          <a:xfrm>
            <a:off x="15082975" y="9262075"/>
            <a:ext cx="1289700" cy="1077300"/>
          </a:xfrm>
          <a:prstGeom prst="ellipse">
            <a:avLst/>
          </a:prstGeom>
          <a:solidFill>
            <a:srgbClr val="812524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acfb3d3425_0_4"/>
          <p:cNvSpPr/>
          <p:nvPr/>
        </p:nvSpPr>
        <p:spPr>
          <a:xfrm>
            <a:off x="24714975" y="6108525"/>
            <a:ext cx="1289700" cy="1077300"/>
          </a:xfrm>
          <a:prstGeom prst="ellipse">
            <a:avLst/>
          </a:prstGeom>
          <a:solidFill>
            <a:srgbClr val="812524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acfb3d3425_0_4"/>
          <p:cNvSpPr/>
          <p:nvPr/>
        </p:nvSpPr>
        <p:spPr>
          <a:xfrm>
            <a:off x="24714975" y="9365575"/>
            <a:ext cx="1289700" cy="1077300"/>
          </a:xfrm>
          <a:prstGeom prst="ellipse">
            <a:avLst/>
          </a:prstGeom>
          <a:solidFill>
            <a:srgbClr val="812524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4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3acfb3d3425_0_4" title="Dashboard.mp4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620425" y="14465225"/>
            <a:ext cx="19825200" cy="974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acfb3d3425_0_4"/>
          <p:cNvSpPr/>
          <p:nvPr/>
        </p:nvSpPr>
        <p:spPr>
          <a:xfrm>
            <a:off x="14593525" y="13102588"/>
            <a:ext cx="19825200" cy="882600"/>
          </a:xfrm>
          <a:prstGeom prst="rect">
            <a:avLst/>
          </a:prstGeom>
          <a:solidFill>
            <a:srgbClr val="8125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chemeClr val="lt1"/>
                </a:solidFill>
                <a:latin typeface="Palatino"/>
                <a:ea typeface="Palatino"/>
                <a:cs typeface="Palatino"/>
                <a:sym typeface="Palatino"/>
              </a:rPr>
              <a:t>Dashboard</a:t>
            </a:r>
            <a:endParaRPr b="1" i="0" sz="5000" u="none" cap="none" strike="noStrike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28" name="Google Shape;128;g3acfb3d3425_0_4"/>
          <p:cNvSpPr txBox="1"/>
          <p:nvPr>
            <p:ph idx="4294967295" type="ctrTitle"/>
          </p:nvPr>
        </p:nvSpPr>
        <p:spPr>
          <a:xfrm>
            <a:off x="14574537" y="24626150"/>
            <a:ext cx="198633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43628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alatino"/>
              <a:buChar char="●"/>
            </a:pP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Platform</a:t>
            </a: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: Built “Wombmates,” an R Shiny Six Sigma dashboard to identify reliability gaps in neonatal life-support devices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3628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alatino"/>
              <a:buChar char="●"/>
            </a:pP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Insight: </a:t>
            </a: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Found elevated circuit resistance as the root cause of pressure instability, reducing process yield to 68%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-43628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alatino"/>
              <a:buChar char="●"/>
            </a:pPr>
            <a:r>
              <a:rPr b="1" lang="en-US" sz="3634">
                <a:latin typeface="Palatino"/>
                <a:ea typeface="Palatino"/>
                <a:cs typeface="Palatino"/>
                <a:sym typeface="Palatino"/>
              </a:rPr>
              <a:t>Impact:</a:t>
            </a:r>
            <a:r>
              <a:rPr lang="en-US" sz="3634">
                <a:latin typeface="Palatino"/>
                <a:ea typeface="Palatino"/>
                <a:cs typeface="Palatino"/>
                <a:sym typeface="Palatino"/>
              </a:rPr>
              <a:t> Developed a predictive simulator showing that targeted hardware fixes can restore performance to &gt;95%</a:t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170"/>
              <a:buFont typeface="Arial"/>
              <a:buNone/>
            </a:pPr>
            <a:r>
              <a:t/>
            </a:r>
            <a:endParaRPr sz="3634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29" name="Google Shape;129;g3acfb3d3425_0_4"/>
          <p:cNvSpPr txBox="1"/>
          <p:nvPr/>
        </p:nvSpPr>
        <p:spPr>
          <a:xfrm>
            <a:off x="14631650" y="14465250"/>
            <a:ext cx="19787100" cy="9744600"/>
          </a:xfrm>
          <a:prstGeom prst="rect">
            <a:avLst/>
          </a:prstGeom>
          <a:noFill/>
          <a:ln cap="flat" cmpd="sng" w="152400">
            <a:solidFill>
              <a:srgbClr val="812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60">
              <a:solidFill>
                <a:srgbClr val="8125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2015-10-22T14:51:50Z</dcterms:created>
  <dc:creator>Kathryn Henion</dc:creator>
</cp:coreProperties>
</file>